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314" r:id="rId4"/>
    <p:sldId id="316" r:id="rId5"/>
    <p:sldId id="315" r:id="rId6"/>
    <p:sldId id="322" r:id="rId7"/>
    <p:sldId id="309" r:id="rId8"/>
    <p:sldId id="317" r:id="rId9"/>
    <p:sldId id="260" r:id="rId10"/>
    <p:sldId id="318" r:id="rId11"/>
    <p:sldId id="323" r:id="rId12"/>
    <p:sldId id="259" r:id="rId13"/>
    <p:sldId id="312" r:id="rId14"/>
    <p:sldId id="321" r:id="rId15"/>
    <p:sldId id="320" r:id="rId16"/>
    <p:sldId id="262" r:id="rId17"/>
    <p:sldId id="311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92A"/>
    <a:srgbClr val="080300"/>
    <a:srgbClr val="ACA299"/>
    <a:srgbClr val="141A16"/>
    <a:srgbClr val="161D16"/>
    <a:srgbClr val="996454"/>
    <a:srgbClr val="F7F6F2"/>
    <a:srgbClr val="0D1021"/>
    <a:srgbClr val="623321"/>
    <a:srgbClr val="B084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83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2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53025-8E8F-4834-8C04-85DDDC2EE15E}" type="datetimeFigureOut">
              <a:rPr lang="ru-RU" smtClean="0"/>
              <a:t>15.06.2021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8193D-1F70-4C97-8F26-36A8D20076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0634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3030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1402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945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73774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3508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26395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29857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7530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5253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CBF08B-00DD-4393-879F-1237413E8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223B8F-C6F9-4738-8C97-2D2328FF5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7EB1AA-FCC3-4A74-B11B-FA6745762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15.06.2021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85F0F7-2FE9-4799-B492-6D7C9CBEF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A16FAD-5BC4-4D77-AA3C-FBD60600E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316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23D27-E746-4A1A-BE2F-F819E1638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C49A60-4936-4321-B1FF-EF8C8080D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95B37E-E4FB-439A-941E-7EE0817E3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15.06.2021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7B2D35-8490-4E57-A29D-2FAD5ABF1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E93C94-A7F2-4B4C-AB75-FE25C1DB2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155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21D69-2657-46D2-B8A9-A3680EC68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30EBAE-2BBE-47E7-AD82-88DA0AC9E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73437F-00AF-4473-9DDA-5A0486E58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15.06.2021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42003C-7A5E-4892-BCA6-5F8B65E5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85236A-4D87-4848-A5BD-580576E32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022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9C95-050C-46B4-8854-DBBB238B2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501085-0FF2-43BD-8A95-9616340A1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08F9D3-C9A1-4792-BEA8-81D2ABB5E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98C345-FF23-4CB7-B751-DF802A4D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15.06.2021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D1FEF7-951F-4079-AFFC-207D8D422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E5131C-A473-4A9E-B9AF-3F6776E26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8823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DA7748-E3F3-4C74-83B7-6C502EDCA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E5A719-ABE2-4248-8BA8-54786A97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3FE61D-73F0-4589-8E1A-FC760A0F4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61405B-A1FF-4AF1-A945-29F41C2A3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ACE693E-DD47-4E42-813E-6F936DECE6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1F4FB5C-39BD-460C-A6A7-06904E043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15.06.2021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DB7EDC0-B71F-479F-86AF-7352042D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FEAE978-D57E-4FBC-8A17-43578086B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9922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1F1F87-B12D-4EED-BA84-50147BD38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8ED643E-2695-40B7-8AD2-68EE0C97D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15.06.2021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CD163A1-1D28-4C06-9F3A-E07842CC7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024879F-803F-4247-ADDD-698517912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565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20DB330-28EB-484F-AB87-5F21BD61B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15.06.2021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1CF81AE-3647-4A29-9252-59B6DF1F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3767E3-0B56-43F6-BF94-AA40797B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1149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C94F9A-497F-4977-9E93-A2E57EAC4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25544A-1015-43BB-98E2-72AE4BED7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6225B7E-CE30-4CCF-A7E6-BA432C857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4D04B5-C55D-4445-ADB0-EE94BD7C6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15.06.2021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CA8F3BE-6253-4789-ACD4-74D54DDA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D55794-27B0-45E3-8CED-C231DD85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10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0A44E-222F-4CD8-968A-9B9A82375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A085646-1D27-4014-86EA-A6488D4530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715D722-991B-46A6-9E57-8398F87A7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45AC8D-12FB-46CB-A4A5-3F248747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15.06.2021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288DF6-3506-4096-B65C-551E090D9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D4FEEB-A3A7-47D1-894D-7C9A24663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85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1761E8-DBB4-4067-A064-B98491188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F7C9F05-B935-409A-AF70-CC63213E8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7231EB-A09D-4F0D-B084-A4FF5691E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15.06.2021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891726-6822-4763-9199-A496191A5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C043A3-8D1A-4DD1-83F2-25AEBD050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36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BB8B8D1-6DB4-46F4-BA7A-28F2F03EE0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7DD97F-34C1-48CB-95EE-5E5EF1C59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96001E-3E8F-42F0-92FA-C0FC32D17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15.06.2021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D56BF3-15F6-40D4-A3B3-0A6C6B76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F35F84-A6B1-4AFD-9EA6-7C0BCC8A0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4844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9AE934-63FD-4AD2-AA77-0141EA121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7AE77F-F8D8-4D86-9E3B-940DCBABA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82924D-6BFD-4A78-99BD-66448940A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35BF7-E6F2-43E3-83B0-7EA589B5F9DB}" type="datetimeFigureOut">
              <a:rPr lang="ru-RU" smtClean="0"/>
              <a:t>15.06.2021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17AD77-F473-4BDF-A3F4-78FED4F796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E6BBAD-4DAD-487E-B903-1E28293CC7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570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52697F-EE34-456F-834B-103082437C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b="1" noProof="1"/>
              <a:t>8-dars</a:t>
            </a:r>
          </a:p>
          <a:p>
            <a:r>
              <a:rPr lang="en-US" sz="4400" b="1" noProof="1"/>
              <a:t> Funksiyalar</a:t>
            </a:r>
          </a:p>
        </p:txBody>
      </p:sp>
      <p:pic>
        <p:nvPicPr>
          <p:cNvPr id="4" name="logoPNG.png" descr="logoPNG.png">
            <a:extLst>
              <a:ext uri="{FF2B5EF4-FFF2-40B4-BE49-F238E27FC236}">
                <a16:creationId xmlns:a16="http://schemas.microsoft.com/office/drawing/2014/main" id="{61D711D9-D19C-4C63-BEC3-1E84357B9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073" y="633803"/>
            <a:ext cx="7928256" cy="297574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">
            <a:extLst>
              <a:ext uri="{FF2B5EF4-FFF2-40B4-BE49-F238E27FC236}">
                <a16:creationId xmlns:a16="http://schemas.microsoft.com/office/drawing/2014/main" id="{A76A65E3-1B5E-4480-BD49-964168D24BD1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E336C90A-BDF3-47C5-AA99-358CBDAC3790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196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B83BB6-D9E8-4E8D-B2FC-90E97DCC9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noProof="1">
                <a:solidFill>
                  <a:srgbClr val="0070C0"/>
                </a:solidFill>
              </a:rPr>
              <a:t>Dars rejasi:</a:t>
            </a: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6616841-1966-4591-BC84-63C8BDD64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748" y="1249285"/>
            <a:ext cx="10515600" cy="5608715"/>
          </a:xfrm>
          <a:prstGeom prst="rect">
            <a:avLst/>
          </a:prstGeom>
          <a:solidFill>
            <a:srgbClr val="FFF7EB"/>
          </a:solidFill>
          <a:ln w="12700">
            <a:solidFill>
              <a:srgbClr val="F9A75E"/>
            </a:solidFill>
            <a:miter lim="800000"/>
            <a:headEnd/>
            <a:tailEnd/>
          </a:ln>
        </p:spPr>
        <p:txBody>
          <a:bodyPr vert="horz" wrap="square" lIns="182880" tIns="91440" rIns="182880" bIns="91440" numCol="1" rtlCol="0" anchor="t" anchorCtr="0" compatLnSpc="1">
            <a:prstTxWarp prst="textNoShape">
              <a:avLst/>
            </a:prstTxWarp>
            <a:spAutoFit/>
          </a:bodyPr>
          <a:lstStyle>
            <a:lvl1pPr marL="798513" indent="-798513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35000"/>
              </a:spcAft>
              <a:buClr>
                <a:srgbClr val="4E87C6"/>
              </a:buClr>
              <a:buFont typeface="Wingdings" panose="05000000000000000000" pitchFamily="2" charset="2"/>
              <a:buChar char="•"/>
              <a:defRPr sz="20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1712913" indent="-798513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  <a:defRPr sz="20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3711575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54475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97375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54575" indent="-228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11775" indent="-228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68975" indent="-228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26175" indent="-228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ko-KR" sz="3200" dirty="0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8.1</a:t>
            </a:r>
            <a:r>
              <a:rPr lang="en-US" altLang="ko-KR" sz="2800" dirty="0">
                <a:ea typeface="Times New Roman" panose="02020603050405020304" pitchFamily="18" charset="0"/>
                <a:cs typeface="Arial" panose="020B0604020202020204" pitchFamily="34" charset="0"/>
              </a:rPr>
              <a:t> 	</a:t>
            </a:r>
            <a:r>
              <a:rPr lang="en-US" altLang="ko-KR" sz="3200" noProof="1">
                <a:ea typeface="Times New Roman" panose="02020603050405020304" pitchFamily="18" charset="0"/>
                <a:cs typeface="Arial" panose="020B0604020202020204" pitchFamily="34" charset="0"/>
              </a:rPr>
              <a:t>Built-in funksiyalar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3200" noProof="1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8.2</a:t>
            </a:r>
            <a:r>
              <a:rPr lang="en-US" altLang="ko-KR" sz="3200" noProof="1">
                <a:ea typeface="Times New Roman" panose="02020603050405020304" pitchFamily="18" charset="0"/>
                <a:cs typeface="Arial" panose="020B0604020202020204" pitchFamily="34" charset="0"/>
              </a:rPr>
              <a:t> 	Funksiyalar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3200" dirty="0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8.3</a:t>
            </a:r>
            <a:r>
              <a:rPr lang="en-US" altLang="ko-KR" sz="3200" dirty="0">
                <a:ea typeface="Times New Roman" panose="02020603050405020304" pitchFamily="18" charset="0"/>
                <a:cs typeface="Arial" panose="020B0604020202020204" pitchFamily="34" charset="0"/>
              </a:rPr>
              <a:t>    Global </a:t>
            </a:r>
            <a:r>
              <a:rPr lang="en-US" altLang="ko-KR" sz="3200" noProof="1">
                <a:ea typeface="Times New Roman" panose="02020603050405020304" pitchFamily="18" charset="0"/>
                <a:cs typeface="Arial" panose="020B0604020202020204" pitchFamily="34" charset="0"/>
              </a:rPr>
              <a:t>va local variablelar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3200" noProof="1">
                <a:solidFill>
                  <a:srgbClr val="B3B366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8.4</a:t>
            </a:r>
            <a:r>
              <a:rPr lang="en-US" altLang="ko-KR" sz="3200" noProof="1">
                <a:ea typeface="Times New Roman" panose="02020603050405020304" pitchFamily="18" charset="0"/>
                <a:cs typeface="Arial" panose="020B0604020202020204" pitchFamily="34" charset="0"/>
              </a:rPr>
              <a:t>    Funksiyaning qiymat return qilishi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3200" noProof="1">
                <a:solidFill>
                  <a:srgbClr val="B3B366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8.5</a:t>
            </a:r>
            <a:r>
              <a:rPr lang="en-US" altLang="ko-KR" sz="3200" noProof="1">
                <a:ea typeface="Times New Roman" panose="02020603050405020304" pitchFamily="18" charset="0"/>
                <a:cs typeface="Arial" panose="020B0604020202020204" pitchFamily="34" charset="0"/>
              </a:rPr>
              <a:t>    Lambda funksiyasi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3200" noProof="1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8.6</a:t>
            </a:r>
            <a:r>
              <a:rPr lang="en-US" altLang="ko-KR" sz="3200" noProof="1">
                <a:ea typeface="Times New Roman" panose="02020603050405020304" pitchFamily="18" charset="0"/>
                <a:cs typeface="Arial" panose="020B0604020202020204" pitchFamily="34" charset="0"/>
              </a:rPr>
              <a:t> 	Rekursiv funksiya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3200" noProof="1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8.7</a:t>
            </a:r>
            <a:r>
              <a:rPr lang="en-US" altLang="ko-KR" sz="3200" noProof="1">
                <a:ea typeface="Times New Roman" panose="02020603050405020304" pitchFamily="18" charset="0"/>
                <a:cs typeface="Arial" panose="020B0604020202020204" pitchFamily="34" charset="0"/>
              </a:rPr>
              <a:t> 	Mashqlar</a:t>
            </a:r>
          </a:p>
          <a:p>
            <a:pPr marL="0" indent="0" eaLnBrk="1" hangingPunct="1">
              <a:lnSpc>
                <a:spcPct val="85000"/>
              </a:lnSpc>
              <a:buNone/>
            </a:pPr>
            <a:endParaRPr lang="en-US" altLang="ko-KR" sz="3200" noProof="1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85000"/>
              </a:lnSpc>
              <a:buNone/>
            </a:pPr>
            <a:endParaRPr lang="en-US" altLang="ko-KR" sz="22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ko-KR" sz="2200" dirty="0">
                <a:solidFill>
                  <a:srgbClr val="504A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00468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39D4D-EF5A-452F-BACB-CC71A7AD8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971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8.1 </a:t>
            </a:r>
            <a:r>
              <a:rPr lang="en-US" b="1" noProof="1">
                <a:solidFill>
                  <a:srgbClr val="0070C0"/>
                </a:solidFill>
              </a:rPr>
              <a:t>Built-in funksiyalar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E9B2BF-9B77-46FE-AAF1-7DF8B8E73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22011"/>
            <a:ext cx="10404628" cy="4372761"/>
          </a:xfrm>
        </p:spPr>
        <p:txBody>
          <a:bodyPr/>
          <a:lstStyle/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4FFE7BD-C983-4336-B10F-1986C8E2A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483" y="1321124"/>
            <a:ext cx="7933034" cy="5288688"/>
          </a:xfrm>
          <a:prstGeom prst="rect">
            <a:avLst/>
          </a:prstGeom>
        </p:spPr>
      </p:pic>
      <p:sp>
        <p:nvSpPr>
          <p:cNvPr id="16" name="Овал 15">
            <a:extLst>
              <a:ext uri="{FF2B5EF4-FFF2-40B4-BE49-F238E27FC236}">
                <a16:creationId xmlns:a16="http://schemas.microsoft.com/office/drawing/2014/main" id="{C32398CB-8D75-47A0-B08F-4A37C8A25065}"/>
              </a:ext>
            </a:extLst>
          </p:cNvPr>
          <p:cNvSpPr/>
          <p:nvPr/>
        </p:nvSpPr>
        <p:spPr>
          <a:xfrm>
            <a:off x="5154966" y="1671415"/>
            <a:ext cx="1882066" cy="798991"/>
          </a:xfrm>
          <a:prstGeom prst="ellipse">
            <a:avLst/>
          </a:prstGeom>
          <a:solidFill>
            <a:srgbClr val="FDFD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Yo’q, rahmat!</a:t>
            </a:r>
            <a:r>
              <a:rPr lang="en-US" noProof="1"/>
              <a:t>!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897E91C5-158B-4995-9FF5-F6F777239BB1}"/>
              </a:ext>
            </a:extLst>
          </p:cNvPr>
          <p:cNvSpPr/>
          <p:nvPr/>
        </p:nvSpPr>
        <p:spPr>
          <a:xfrm>
            <a:off x="7803472" y="1862468"/>
            <a:ext cx="1623648" cy="987264"/>
          </a:xfrm>
          <a:prstGeom prst="ellipse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Bizni bezovta qilma</a:t>
            </a:r>
          </a:p>
        </p:txBody>
      </p:sp>
    </p:spTree>
    <p:extLst>
      <p:ext uri="{BB962C8B-B14F-4D97-AF65-F5344CB8AC3E}">
        <p14:creationId xmlns:p14="http://schemas.microsoft.com/office/powerpoint/2010/main" val="3737615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39D4D-EF5A-452F-BACB-CC71A7AD8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971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8.1 </a:t>
            </a:r>
            <a:r>
              <a:rPr lang="en-US" b="1" noProof="1">
                <a:solidFill>
                  <a:srgbClr val="0070C0"/>
                </a:solidFill>
              </a:rPr>
              <a:t>Built-in funksiyalar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E9B2BF-9B77-46FE-AAF1-7DF8B8E73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22011"/>
            <a:ext cx="10404628" cy="4372761"/>
          </a:xfrm>
        </p:spPr>
        <p:txBody>
          <a:bodyPr/>
          <a:lstStyle/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graphicFrame>
        <p:nvGraphicFramePr>
          <p:cNvPr id="6" name="Таблица 7">
            <a:extLst>
              <a:ext uri="{FF2B5EF4-FFF2-40B4-BE49-F238E27FC236}">
                <a16:creationId xmlns:a16="http://schemas.microsoft.com/office/drawing/2014/main" id="{9048276F-3D6D-410F-AC56-C18FFFF1D2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83523"/>
              </p:ext>
            </p:extLst>
          </p:nvPr>
        </p:nvGraphicFramePr>
        <p:xfrm>
          <a:off x="1638915" y="1491448"/>
          <a:ext cx="8943268" cy="452760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93035">
                  <a:extLst>
                    <a:ext uri="{9D8B030D-6E8A-4147-A177-3AD203B41FA5}">
                      <a16:colId xmlns:a16="http://schemas.microsoft.com/office/drawing/2014/main" val="959464701"/>
                    </a:ext>
                  </a:extLst>
                </a:gridCol>
                <a:gridCol w="7250233">
                  <a:extLst>
                    <a:ext uri="{9D8B030D-6E8A-4147-A177-3AD203B41FA5}">
                      <a16:colId xmlns:a16="http://schemas.microsoft.com/office/drawing/2014/main" val="2474671880"/>
                    </a:ext>
                  </a:extLst>
                </a:gridCol>
              </a:tblGrid>
              <a:tr h="464253">
                <a:tc>
                  <a:txBody>
                    <a:bodyPr/>
                    <a:lstStyle/>
                    <a:p>
                      <a:r>
                        <a:rPr lang="en-US" sz="2000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Funksiya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         Vazifasi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2572747"/>
                  </a:ext>
                </a:extLst>
              </a:tr>
              <a:tr h="677226">
                <a:tc>
                  <a:txBody>
                    <a:bodyPr/>
                    <a:lstStyle/>
                    <a:p>
                      <a:r>
                        <a:rPr lang="en-US" sz="2000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len()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Uzunligini hisoblaydi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80103376"/>
                  </a:ext>
                </a:extLst>
              </a:tr>
              <a:tr h="677226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max()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Eng kattasi(uzuni)ni chiqaradi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507016"/>
                  </a:ext>
                </a:extLst>
              </a:tr>
              <a:tr h="677226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min()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Eng kichigi(kaltasi)ni chiqaradi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844950"/>
                  </a:ext>
                </a:extLst>
              </a:tr>
              <a:tr h="677226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format()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en-US" sz="2000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Elementning formatini to’g’irlaydi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600191"/>
                  </a:ext>
                </a:extLst>
              </a:tr>
              <a:tr h="677226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input()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en-US" sz="2000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Qiymat oladi</a:t>
                      </a:r>
                    </a:p>
                  </a:txBody>
                  <a:tcPr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6725552"/>
                  </a:ext>
                </a:extLst>
              </a:tr>
              <a:tr h="677226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float()</a:t>
                      </a:r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Floatga o’zgartiradi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5073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5989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39D4D-EF5A-452F-BACB-CC71A7AD8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686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8.2 </a:t>
            </a:r>
            <a:r>
              <a:rPr lang="en-US" b="1" noProof="1">
                <a:solidFill>
                  <a:srgbClr val="0070C0"/>
                </a:solidFill>
              </a:rPr>
              <a:t>Funksiyalar</a:t>
            </a: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B17B438-9D4F-491E-BDD7-933E54D10B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95" y="1011307"/>
            <a:ext cx="9840157" cy="5846693"/>
          </a:xfrm>
          <a:prstGeom prst="rect">
            <a:avLst/>
          </a:prstGeom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4B780E9-FBE6-4E55-A3C7-F2915C985E6C}"/>
              </a:ext>
            </a:extLst>
          </p:cNvPr>
          <p:cNvSpPr/>
          <p:nvPr/>
        </p:nvSpPr>
        <p:spPr>
          <a:xfrm>
            <a:off x="838199" y="6232124"/>
            <a:ext cx="8865094" cy="133165"/>
          </a:xfrm>
          <a:prstGeom prst="rect">
            <a:avLst/>
          </a:prstGeom>
          <a:solidFill>
            <a:srgbClr val="0A0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69C5DA7-B5AE-4E15-9DA0-EE42D94306BB}"/>
              </a:ext>
            </a:extLst>
          </p:cNvPr>
          <p:cNvSpPr/>
          <p:nvPr/>
        </p:nvSpPr>
        <p:spPr>
          <a:xfrm>
            <a:off x="9579006" y="1793289"/>
            <a:ext cx="124287" cy="4438835"/>
          </a:xfrm>
          <a:prstGeom prst="rect">
            <a:avLst/>
          </a:prstGeom>
          <a:solidFill>
            <a:srgbClr val="0A0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A8E8D7D1-F92D-4A80-8186-79862D48BEF7}"/>
              </a:ext>
            </a:extLst>
          </p:cNvPr>
          <p:cNvCxnSpPr/>
          <p:nvPr/>
        </p:nvCxnSpPr>
        <p:spPr>
          <a:xfrm flipV="1">
            <a:off x="1624614" y="1198485"/>
            <a:ext cx="3391269" cy="6835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Овал 18">
            <a:extLst>
              <a:ext uri="{FF2B5EF4-FFF2-40B4-BE49-F238E27FC236}">
                <a16:creationId xmlns:a16="http://schemas.microsoft.com/office/drawing/2014/main" id="{65B5EA33-9A82-42EA-9FEF-24F441FBA934}"/>
              </a:ext>
            </a:extLst>
          </p:cNvPr>
          <p:cNvSpPr/>
          <p:nvPr/>
        </p:nvSpPr>
        <p:spPr>
          <a:xfrm>
            <a:off x="5015883" y="781235"/>
            <a:ext cx="1778496" cy="532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1"/>
              <a:t>Kalit so’z</a:t>
            </a: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F8EBBF7D-353D-4FC9-A555-E7ED325D9E74}"/>
              </a:ext>
            </a:extLst>
          </p:cNvPr>
          <p:cNvSpPr/>
          <p:nvPr/>
        </p:nvSpPr>
        <p:spPr>
          <a:xfrm>
            <a:off x="5690586" y="2840855"/>
            <a:ext cx="3240349" cy="71019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1"/>
              <a:t>Funksiyani chaqirish</a:t>
            </a:r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CD84C9AE-0679-425D-8CB4-EDB500CC6283}"/>
              </a:ext>
            </a:extLst>
          </p:cNvPr>
          <p:cNvCxnSpPr/>
          <p:nvPr/>
        </p:nvCxnSpPr>
        <p:spPr>
          <a:xfrm>
            <a:off x="2743200" y="3178206"/>
            <a:ext cx="273432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0646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39D4D-EF5A-452F-BACB-CC71A7AD8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686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8.2 </a:t>
            </a:r>
            <a:r>
              <a:rPr lang="en-US" b="1" noProof="1">
                <a:solidFill>
                  <a:srgbClr val="0070C0"/>
                </a:solidFill>
              </a:rPr>
              <a:t>Funksiyalar. Docstring yozish </a:t>
            </a: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4A5B084-3B1B-47BC-902D-FE90DA075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94" y="908906"/>
            <a:ext cx="11331606" cy="5949093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F6C38DC-54C8-4A93-A7AA-066C3B8FD160}"/>
              </a:ext>
            </a:extLst>
          </p:cNvPr>
          <p:cNvSpPr/>
          <p:nvPr/>
        </p:nvSpPr>
        <p:spPr>
          <a:xfrm>
            <a:off x="1029810" y="6116715"/>
            <a:ext cx="10200442" cy="97654"/>
          </a:xfrm>
          <a:prstGeom prst="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9766DDC-DC43-4CC6-9516-A32D5A596143}"/>
              </a:ext>
            </a:extLst>
          </p:cNvPr>
          <p:cNvSpPr/>
          <p:nvPr/>
        </p:nvSpPr>
        <p:spPr>
          <a:xfrm>
            <a:off x="11097087" y="1766656"/>
            <a:ext cx="133165" cy="4350059"/>
          </a:xfrm>
          <a:prstGeom prst="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18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">
            <a:extLst>
              <a:ext uri="{FF2B5EF4-FFF2-40B4-BE49-F238E27FC236}">
                <a16:creationId xmlns:a16="http://schemas.microsoft.com/office/drawing/2014/main" id="{89BE43B3-A607-4E8D-8580-481575D39B26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9" name="Rectangle">
            <a:extLst>
              <a:ext uri="{FF2B5EF4-FFF2-40B4-BE49-F238E27FC236}">
                <a16:creationId xmlns:a16="http://schemas.microsoft.com/office/drawing/2014/main" id="{9FA76FF3-8C0F-4C7C-AD3F-C503D9D9EC13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39" name="Заголовок 1">
            <a:extLst>
              <a:ext uri="{FF2B5EF4-FFF2-40B4-BE49-F238E27FC236}">
                <a16:creationId xmlns:a16="http://schemas.microsoft.com/office/drawing/2014/main" id="{558B5D14-9C6B-4F55-9A26-859ACADC25BC}"/>
              </a:ext>
            </a:extLst>
          </p:cNvPr>
          <p:cNvSpPr txBox="1">
            <a:spLocks/>
          </p:cNvSpPr>
          <p:nvPr/>
        </p:nvSpPr>
        <p:spPr>
          <a:xfrm>
            <a:off x="838199" y="-1168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70C0"/>
                </a:solidFill>
              </a:rPr>
              <a:t>8.2 </a:t>
            </a:r>
            <a:r>
              <a:rPr lang="en-US" b="1" noProof="1">
                <a:solidFill>
                  <a:srgbClr val="0070C0"/>
                </a:solidFill>
              </a:rPr>
              <a:t>Funksiyalar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C99F5FA-9E5D-4344-BB7D-786ACB92DEA4}"/>
              </a:ext>
            </a:extLst>
          </p:cNvPr>
          <p:cNvSpPr/>
          <p:nvPr/>
        </p:nvSpPr>
        <p:spPr>
          <a:xfrm>
            <a:off x="4172505" y="5086906"/>
            <a:ext cx="939631" cy="2041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4FF39FB-1D64-4A10-BE4E-54B8B8578B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9" y="857250"/>
            <a:ext cx="11430000" cy="600075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6AF6EE7-6C71-4F7A-AE70-775DD30DC5F7}"/>
              </a:ext>
            </a:extLst>
          </p:cNvPr>
          <p:cNvSpPr/>
          <p:nvPr/>
        </p:nvSpPr>
        <p:spPr>
          <a:xfrm>
            <a:off x="932155" y="4820575"/>
            <a:ext cx="10280342" cy="12428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D23754C-9A4F-437A-95A6-CEDEF9971A66}"/>
              </a:ext>
            </a:extLst>
          </p:cNvPr>
          <p:cNvSpPr/>
          <p:nvPr/>
        </p:nvSpPr>
        <p:spPr>
          <a:xfrm>
            <a:off x="11105965" y="1771094"/>
            <a:ext cx="106532" cy="31737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2CCDE7B9-7A4E-4640-A28F-BDA9E6840BE7}"/>
              </a:ext>
            </a:extLst>
          </p:cNvPr>
          <p:cNvSpPr/>
          <p:nvPr/>
        </p:nvSpPr>
        <p:spPr>
          <a:xfrm>
            <a:off x="5397622" y="676049"/>
            <a:ext cx="1778496" cy="532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1"/>
              <a:t>Argument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0CEFE41D-4486-4DD5-AD81-F5A7FCD598EE}"/>
              </a:ext>
            </a:extLst>
          </p:cNvPr>
          <p:cNvCxnSpPr/>
          <p:nvPr/>
        </p:nvCxnSpPr>
        <p:spPr>
          <a:xfrm flipV="1">
            <a:off x="4642320" y="1208691"/>
            <a:ext cx="888468" cy="79292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E216EF52-105A-476E-844D-1ED24B16C8CB}"/>
              </a:ext>
            </a:extLst>
          </p:cNvPr>
          <p:cNvSpPr/>
          <p:nvPr/>
        </p:nvSpPr>
        <p:spPr>
          <a:xfrm>
            <a:off x="6096001" y="1935333"/>
            <a:ext cx="5009964" cy="328474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noProof="1"/>
              <a:t>*yosh – istagancha argument berish uchun</a:t>
            </a:r>
          </a:p>
        </p:txBody>
      </p:sp>
    </p:spTree>
    <p:extLst>
      <p:ext uri="{BB962C8B-B14F-4D97-AF65-F5344CB8AC3E}">
        <p14:creationId xmlns:p14="http://schemas.microsoft.com/office/powerpoint/2010/main" val="2598015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">
            <a:extLst>
              <a:ext uri="{FF2B5EF4-FFF2-40B4-BE49-F238E27FC236}">
                <a16:creationId xmlns:a16="http://schemas.microsoft.com/office/drawing/2014/main" id="{89BE43B3-A607-4E8D-8580-481575D39B26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9" name="Rectangle">
            <a:extLst>
              <a:ext uri="{FF2B5EF4-FFF2-40B4-BE49-F238E27FC236}">
                <a16:creationId xmlns:a16="http://schemas.microsoft.com/office/drawing/2014/main" id="{9FA76FF3-8C0F-4C7C-AD3F-C503D9D9EC13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39" name="Заголовок 1">
            <a:extLst>
              <a:ext uri="{FF2B5EF4-FFF2-40B4-BE49-F238E27FC236}">
                <a16:creationId xmlns:a16="http://schemas.microsoft.com/office/drawing/2014/main" id="{558B5D14-9C6B-4F55-9A26-859ACADC25BC}"/>
              </a:ext>
            </a:extLst>
          </p:cNvPr>
          <p:cNvSpPr txBox="1">
            <a:spLocks/>
          </p:cNvSpPr>
          <p:nvPr/>
        </p:nvSpPr>
        <p:spPr>
          <a:xfrm>
            <a:off x="838199" y="-1168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70C0"/>
                </a:solidFill>
              </a:rPr>
              <a:t>8.2 </a:t>
            </a:r>
            <a:r>
              <a:rPr lang="en-US" b="1" noProof="1">
                <a:solidFill>
                  <a:srgbClr val="0070C0"/>
                </a:solidFill>
              </a:rPr>
              <a:t>Funksiyalar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73ABEEF-836E-4626-903C-457DC514BE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12" y="857250"/>
            <a:ext cx="11430000" cy="600075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4C26B37-EF3A-4B9C-B79B-EEF42E7666AB}"/>
              </a:ext>
            </a:extLst>
          </p:cNvPr>
          <p:cNvSpPr/>
          <p:nvPr/>
        </p:nvSpPr>
        <p:spPr>
          <a:xfrm>
            <a:off x="838199" y="4403324"/>
            <a:ext cx="10303277" cy="115410"/>
          </a:xfrm>
          <a:prstGeom prst="rect">
            <a:avLst/>
          </a:prstGeom>
          <a:solidFill>
            <a:srgbClr val="1124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92496D2-A491-4916-BEC0-C510FD2389CA}"/>
              </a:ext>
            </a:extLst>
          </p:cNvPr>
          <p:cNvSpPr/>
          <p:nvPr/>
        </p:nvSpPr>
        <p:spPr>
          <a:xfrm>
            <a:off x="11052699" y="1775534"/>
            <a:ext cx="88777" cy="2743200"/>
          </a:xfrm>
          <a:prstGeom prst="rect">
            <a:avLst/>
          </a:prstGeom>
          <a:solidFill>
            <a:srgbClr val="1124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8D2FD972-E190-4C63-8B8D-A073A921389C}"/>
              </a:ext>
            </a:extLst>
          </p:cNvPr>
          <p:cNvSpPr/>
          <p:nvPr/>
        </p:nvSpPr>
        <p:spPr>
          <a:xfrm>
            <a:off x="5744594" y="1340528"/>
            <a:ext cx="5396882" cy="994299"/>
          </a:xfrm>
          <a:prstGeom prst="roundRect">
            <a:avLst/>
          </a:prstGeom>
          <a:solidFill>
            <a:srgbClr val="1124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noProof="1"/>
              <a:t>**kid – istagancha keyword argument berish uchun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F6CEDF3D-0633-4F8E-AEBE-0C2C2221ADA9}"/>
              </a:ext>
            </a:extLst>
          </p:cNvPr>
          <p:cNvSpPr/>
          <p:nvPr/>
        </p:nvSpPr>
        <p:spPr>
          <a:xfrm>
            <a:off x="2956264" y="4838330"/>
            <a:ext cx="5370990" cy="1038687"/>
          </a:xfrm>
          <a:prstGeom prst="roundRect">
            <a:avLst/>
          </a:prstGeom>
          <a:solidFill>
            <a:srgbClr val="1124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1"/>
              <a:t>Dictionary sifatida qabul qilyapti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DC6DF837-C062-4FBE-A9A1-8D18AA4B2DA0}"/>
              </a:ext>
            </a:extLst>
          </p:cNvPr>
          <p:cNvCxnSpPr/>
          <p:nvPr/>
        </p:nvCxnSpPr>
        <p:spPr>
          <a:xfrm>
            <a:off x="2024109" y="3506680"/>
            <a:ext cx="1198485" cy="163349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8018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>
            <a:extLst>
              <a:ext uri="{FF2B5EF4-FFF2-40B4-BE49-F238E27FC236}">
                <a16:creationId xmlns:a16="http://schemas.microsoft.com/office/drawing/2014/main" id="{FE0391D4-B7A3-4EF2-A26B-B021E978C36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78C4F440-B2A8-4DC6-9E27-192BEEA3F27C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44548CA7-F646-4CD3-92F0-0E71C7EEF7B4}"/>
              </a:ext>
            </a:extLst>
          </p:cNvPr>
          <p:cNvSpPr txBox="1">
            <a:spLocks/>
          </p:cNvSpPr>
          <p:nvPr/>
        </p:nvSpPr>
        <p:spPr>
          <a:xfrm>
            <a:off x="838199" y="-1168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70C0"/>
                </a:solidFill>
              </a:rPr>
              <a:t>8.3 </a:t>
            </a:r>
            <a:r>
              <a:rPr lang="en-US" b="1" noProof="1">
                <a:solidFill>
                  <a:srgbClr val="0070C0"/>
                </a:solidFill>
              </a:rPr>
              <a:t>Global va local variablelar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9BA6D1B-8C8C-42A2-83FE-F4298CB47928}"/>
              </a:ext>
            </a:extLst>
          </p:cNvPr>
          <p:cNvSpPr/>
          <p:nvPr/>
        </p:nvSpPr>
        <p:spPr>
          <a:xfrm>
            <a:off x="293512" y="1702293"/>
            <a:ext cx="2539013" cy="7279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variable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3DD830D8-A6CC-4779-BA33-01D5276F9AC1}"/>
              </a:ext>
            </a:extLst>
          </p:cNvPr>
          <p:cNvCxnSpPr/>
          <p:nvPr/>
        </p:nvCxnSpPr>
        <p:spPr>
          <a:xfrm flipV="1">
            <a:off x="2587842" y="2047976"/>
            <a:ext cx="1074198" cy="7546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8837C0A-BF23-4C06-BD5B-50C7B5E3E97B}"/>
              </a:ext>
            </a:extLst>
          </p:cNvPr>
          <p:cNvSpPr/>
          <p:nvPr/>
        </p:nvSpPr>
        <p:spPr>
          <a:xfrm>
            <a:off x="293511" y="3510299"/>
            <a:ext cx="2539013" cy="755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variable</a:t>
            </a: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3FD9F0A3-C163-49B8-8592-801853B1C0D4}"/>
              </a:ext>
            </a:extLst>
          </p:cNvPr>
          <p:cNvCxnSpPr>
            <a:cxnSpLocks/>
          </p:cNvCxnSpPr>
          <p:nvPr/>
        </p:nvCxnSpPr>
        <p:spPr>
          <a:xfrm flipV="1">
            <a:off x="2514162" y="3533782"/>
            <a:ext cx="1029603" cy="35569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87E982A-9D6E-4438-B2A6-320EB35D23F4}"/>
              </a:ext>
            </a:extLst>
          </p:cNvPr>
          <p:cNvSpPr/>
          <p:nvPr/>
        </p:nvSpPr>
        <p:spPr>
          <a:xfrm>
            <a:off x="312976" y="4576441"/>
            <a:ext cx="2645411" cy="7545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Funksiyani chaqirish</a:t>
            </a: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734A2C8C-B9E5-492C-B59C-7D738513CA40}"/>
              </a:ext>
            </a:extLst>
          </p:cNvPr>
          <p:cNvCxnSpPr>
            <a:cxnSpLocks/>
          </p:cNvCxnSpPr>
          <p:nvPr/>
        </p:nvCxnSpPr>
        <p:spPr>
          <a:xfrm flipV="1">
            <a:off x="2867487" y="4483223"/>
            <a:ext cx="794553" cy="4705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5844E202-F602-4C8A-B366-395B766298F4}"/>
              </a:ext>
            </a:extLst>
          </p:cNvPr>
          <p:cNvSpPr/>
          <p:nvPr/>
        </p:nvSpPr>
        <p:spPr>
          <a:xfrm>
            <a:off x="3568690" y="5996400"/>
            <a:ext cx="3657734" cy="777262"/>
          </a:xfrm>
          <a:prstGeom prst="roundRect">
            <a:avLst/>
          </a:prstGeom>
          <a:solidFill>
            <a:srgbClr val="1124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Sonning qiymati funksiya ichida va tashqarisida 2 xil bo’ldi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D753BAD-3C9D-4902-B45A-17EBF4A230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28" y="996288"/>
            <a:ext cx="8209396" cy="4877110"/>
          </a:xfrm>
          <a:prstGeom prst="rect">
            <a:avLst/>
          </a:prstGeom>
        </p:spPr>
      </p:pic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A36BE1CF-B0F9-4D26-BB2D-9634D3FCA066}"/>
              </a:ext>
            </a:extLst>
          </p:cNvPr>
          <p:cNvSpPr/>
          <p:nvPr/>
        </p:nvSpPr>
        <p:spPr>
          <a:xfrm>
            <a:off x="4074850" y="5274666"/>
            <a:ext cx="7386448" cy="56372"/>
          </a:xfrm>
          <a:prstGeom prst="roundRect">
            <a:avLst/>
          </a:prstGeom>
          <a:solidFill>
            <a:srgbClr val="1019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66AD4AD9-5BE4-4A94-AD40-24EB50362B85}"/>
              </a:ext>
            </a:extLst>
          </p:cNvPr>
          <p:cNvSpPr/>
          <p:nvPr/>
        </p:nvSpPr>
        <p:spPr>
          <a:xfrm>
            <a:off x="11353799" y="1719409"/>
            <a:ext cx="107499" cy="3611629"/>
          </a:xfrm>
          <a:prstGeom prst="roundRect">
            <a:avLst/>
          </a:prstGeom>
          <a:solidFill>
            <a:srgbClr val="1019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878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>
            <a:extLst>
              <a:ext uri="{FF2B5EF4-FFF2-40B4-BE49-F238E27FC236}">
                <a16:creationId xmlns:a16="http://schemas.microsoft.com/office/drawing/2014/main" id="{FE0391D4-B7A3-4EF2-A26B-B021E978C36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78C4F440-B2A8-4DC6-9E27-192BEEA3F27C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44548CA7-F646-4CD3-92F0-0E71C7EEF7B4}"/>
              </a:ext>
            </a:extLst>
          </p:cNvPr>
          <p:cNvSpPr txBox="1">
            <a:spLocks/>
          </p:cNvSpPr>
          <p:nvPr/>
        </p:nvSpPr>
        <p:spPr>
          <a:xfrm>
            <a:off x="838199" y="-1168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70C0"/>
                </a:solidFill>
              </a:rPr>
              <a:t>8.3 </a:t>
            </a:r>
            <a:r>
              <a:rPr lang="en-US" b="1" noProof="1">
                <a:solidFill>
                  <a:srgbClr val="0070C0"/>
                </a:solidFill>
              </a:rPr>
              <a:t>Global va local variablelar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23AE330-6D16-4B0D-BBBA-6C27DC4C13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819" y="1208691"/>
            <a:ext cx="9337935" cy="4902416"/>
          </a:xfrm>
          <a:prstGeom prst="rect">
            <a:avLst/>
          </a:prstGeom>
        </p:spPr>
      </p:pic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0328A79-32B9-4364-AC45-930EAADCAC99}"/>
              </a:ext>
            </a:extLst>
          </p:cNvPr>
          <p:cNvSpPr/>
          <p:nvPr/>
        </p:nvSpPr>
        <p:spPr>
          <a:xfrm>
            <a:off x="2920753" y="5131293"/>
            <a:ext cx="8433046" cy="124288"/>
          </a:xfrm>
          <a:prstGeom prst="rect">
            <a:avLst/>
          </a:prstGeom>
          <a:solidFill>
            <a:srgbClr val="1124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1D120CF-28B5-41D3-AC90-C11F19ED7E46}"/>
              </a:ext>
            </a:extLst>
          </p:cNvPr>
          <p:cNvSpPr/>
          <p:nvPr/>
        </p:nvSpPr>
        <p:spPr>
          <a:xfrm>
            <a:off x="11248008" y="1917577"/>
            <a:ext cx="105791" cy="3213716"/>
          </a:xfrm>
          <a:prstGeom prst="rect">
            <a:avLst/>
          </a:prstGeom>
          <a:solidFill>
            <a:srgbClr val="1124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748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>
            <a:extLst>
              <a:ext uri="{FF2B5EF4-FFF2-40B4-BE49-F238E27FC236}">
                <a16:creationId xmlns:a16="http://schemas.microsoft.com/office/drawing/2014/main" id="{FE0391D4-B7A3-4EF2-A26B-B021E978C36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78C4F440-B2A8-4DC6-9E27-192BEEA3F27C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44548CA7-F646-4CD3-92F0-0E71C7EEF7B4}"/>
              </a:ext>
            </a:extLst>
          </p:cNvPr>
          <p:cNvSpPr txBox="1">
            <a:spLocks/>
          </p:cNvSpPr>
          <p:nvPr/>
        </p:nvSpPr>
        <p:spPr>
          <a:xfrm>
            <a:off x="838199" y="-1168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noProof="1">
                <a:solidFill>
                  <a:srgbClr val="0070C0"/>
                </a:solidFill>
              </a:rPr>
              <a:t>8.4 Funksiyaning qiymat return qilishi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531A679-1719-47D6-A8C9-F91EFA8256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87" y="857250"/>
            <a:ext cx="11430000" cy="600075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2FEDB99-6CA4-44F2-A72B-059EFA5D178A}"/>
              </a:ext>
            </a:extLst>
          </p:cNvPr>
          <p:cNvSpPr/>
          <p:nvPr/>
        </p:nvSpPr>
        <p:spPr>
          <a:xfrm>
            <a:off x="1020932" y="6081204"/>
            <a:ext cx="10332867" cy="133165"/>
          </a:xfrm>
          <a:prstGeom prst="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C954F25-78B5-433F-BF15-325D539754CE}"/>
              </a:ext>
            </a:extLst>
          </p:cNvPr>
          <p:cNvSpPr/>
          <p:nvPr/>
        </p:nvSpPr>
        <p:spPr>
          <a:xfrm>
            <a:off x="11171068" y="1731146"/>
            <a:ext cx="182731" cy="4483223"/>
          </a:xfrm>
          <a:prstGeom prst="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159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687BF2-1293-45D7-BC82-AF9DF0B11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686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8.5 </a:t>
            </a:r>
            <a:r>
              <a:rPr lang="en-US" b="1" noProof="1">
                <a:solidFill>
                  <a:srgbClr val="0070C0"/>
                </a:solidFill>
              </a:rPr>
              <a:t>Lambda funksiyalar</a:t>
            </a:r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FE0391D4-B7A3-4EF2-A26B-B021E978C36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78C4F440-B2A8-4DC6-9E27-192BEEA3F27C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1FD53C5-E8FE-40B7-B8F0-F194286674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858" y="1097014"/>
            <a:ext cx="10420629" cy="5470831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EA9F23A-41D4-44ED-8871-4722CF95269B}"/>
              </a:ext>
            </a:extLst>
          </p:cNvPr>
          <p:cNvSpPr/>
          <p:nvPr/>
        </p:nvSpPr>
        <p:spPr>
          <a:xfrm>
            <a:off x="1961965" y="4296792"/>
            <a:ext cx="9391835" cy="150921"/>
          </a:xfrm>
          <a:prstGeom prst="rect">
            <a:avLst/>
          </a:prstGeom>
          <a:solidFill>
            <a:srgbClr val="0D1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42107AA-0BF5-4999-B64E-A04CFBE52421}"/>
              </a:ext>
            </a:extLst>
          </p:cNvPr>
          <p:cNvSpPr/>
          <p:nvPr/>
        </p:nvSpPr>
        <p:spPr>
          <a:xfrm>
            <a:off x="11256885" y="1899821"/>
            <a:ext cx="96915" cy="2485748"/>
          </a:xfrm>
          <a:prstGeom prst="rect">
            <a:avLst/>
          </a:prstGeom>
          <a:solidFill>
            <a:srgbClr val="0D1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46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">
            <a:extLst>
              <a:ext uri="{FF2B5EF4-FFF2-40B4-BE49-F238E27FC236}">
                <a16:creationId xmlns:a16="http://schemas.microsoft.com/office/drawing/2014/main" id="{89BE43B3-A607-4E8D-8580-481575D39B26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9" name="Rectangle">
            <a:extLst>
              <a:ext uri="{FF2B5EF4-FFF2-40B4-BE49-F238E27FC236}">
                <a16:creationId xmlns:a16="http://schemas.microsoft.com/office/drawing/2014/main" id="{9FA76FF3-8C0F-4C7C-AD3F-C503D9D9EC13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4945E78-8741-4FD5-B58D-B02557179BD6}"/>
              </a:ext>
            </a:extLst>
          </p:cNvPr>
          <p:cNvSpPr txBox="1">
            <a:spLocks/>
          </p:cNvSpPr>
          <p:nvPr/>
        </p:nvSpPr>
        <p:spPr>
          <a:xfrm>
            <a:off x="838200" y="-1168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70C0"/>
                </a:solidFill>
              </a:rPr>
              <a:t>8.6 </a:t>
            </a:r>
            <a:r>
              <a:rPr lang="en-US" b="1" noProof="1">
                <a:solidFill>
                  <a:srgbClr val="0070C0"/>
                </a:solidFill>
              </a:rPr>
              <a:t>Rekursiv funksiya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9021E46-C07F-46AB-B1AE-356CE5B210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987" y="1683372"/>
            <a:ext cx="6667500" cy="441007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0C19D02-315E-401A-89D3-EC865FAE30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12" y="2201644"/>
            <a:ext cx="4498043" cy="337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283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">
            <a:extLst>
              <a:ext uri="{FF2B5EF4-FFF2-40B4-BE49-F238E27FC236}">
                <a16:creationId xmlns:a16="http://schemas.microsoft.com/office/drawing/2014/main" id="{89BE43B3-A607-4E8D-8580-481575D39B26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9" name="Rectangle">
            <a:extLst>
              <a:ext uri="{FF2B5EF4-FFF2-40B4-BE49-F238E27FC236}">
                <a16:creationId xmlns:a16="http://schemas.microsoft.com/office/drawing/2014/main" id="{9FA76FF3-8C0F-4C7C-AD3F-C503D9D9EC13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50" y="257175"/>
            <a:ext cx="6286500" cy="634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946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">
            <a:extLst>
              <a:ext uri="{FF2B5EF4-FFF2-40B4-BE49-F238E27FC236}">
                <a16:creationId xmlns:a16="http://schemas.microsoft.com/office/drawing/2014/main" id="{89BE43B3-A607-4E8D-8580-481575D39B26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9" name="Rectangle">
            <a:extLst>
              <a:ext uri="{FF2B5EF4-FFF2-40B4-BE49-F238E27FC236}">
                <a16:creationId xmlns:a16="http://schemas.microsoft.com/office/drawing/2014/main" id="{9FA76FF3-8C0F-4C7C-AD3F-C503D9D9EC13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4945E78-8741-4FD5-B58D-B02557179BD6}"/>
              </a:ext>
            </a:extLst>
          </p:cNvPr>
          <p:cNvSpPr txBox="1">
            <a:spLocks/>
          </p:cNvSpPr>
          <p:nvPr/>
        </p:nvSpPr>
        <p:spPr>
          <a:xfrm>
            <a:off x="838200" y="-1168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70C0"/>
                </a:solidFill>
              </a:rPr>
              <a:t>8.6 </a:t>
            </a:r>
            <a:r>
              <a:rPr lang="en-US" b="1" noProof="1">
                <a:solidFill>
                  <a:srgbClr val="0070C0"/>
                </a:solidFill>
              </a:rPr>
              <a:t>Rekursiv funksiya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9BF0C1-7C31-42DF-A06F-008C689D92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887" y="1004316"/>
            <a:ext cx="10515600" cy="5853684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F16FD58-1FAA-45AC-B69A-403D1AC5622C}"/>
              </a:ext>
            </a:extLst>
          </p:cNvPr>
          <p:cNvSpPr/>
          <p:nvPr/>
        </p:nvSpPr>
        <p:spPr>
          <a:xfrm>
            <a:off x="1500326" y="6214369"/>
            <a:ext cx="9490229" cy="115410"/>
          </a:xfrm>
          <a:prstGeom prst="rect">
            <a:avLst/>
          </a:prstGeom>
          <a:solidFill>
            <a:srgbClr val="0D1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10DC6AA-700F-46AF-A179-BC8BDA6995BA}"/>
              </a:ext>
            </a:extLst>
          </p:cNvPr>
          <p:cNvSpPr/>
          <p:nvPr/>
        </p:nvSpPr>
        <p:spPr>
          <a:xfrm>
            <a:off x="10857390" y="1846555"/>
            <a:ext cx="133165" cy="4367814"/>
          </a:xfrm>
          <a:prstGeom prst="rect">
            <a:avLst/>
          </a:prstGeom>
          <a:solidFill>
            <a:srgbClr val="0D1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891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>
            <a:extLst>
              <a:ext uri="{FF2B5EF4-FFF2-40B4-BE49-F238E27FC236}">
                <a16:creationId xmlns:a16="http://schemas.microsoft.com/office/drawing/2014/main" id="{FE0391D4-B7A3-4EF2-A26B-B021E978C36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78C4F440-B2A8-4DC6-9E27-192BEEA3F27C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662" y="871537"/>
            <a:ext cx="7686675" cy="511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951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B45B2DFE-97E0-4E54-B7E6-318C0CE860A4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3C1C198B-9B8D-4D39-ABF5-AA364449A575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12" y="536332"/>
            <a:ext cx="11602920" cy="579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1108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2769</TotalTime>
  <Words>146</Words>
  <Application>Microsoft Office PowerPoint</Application>
  <PresentationFormat>Широкоэкранный</PresentationFormat>
  <Paragraphs>62</Paragraphs>
  <Slides>17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Goudy Sans Medium</vt:lpstr>
      <vt:lpstr>Helvetica Neue Medium</vt:lpstr>
      <vt:lpstr>Times New Roman</vt:lpstr>
      <vt:lpstr>Wingdings</vt:lpstr>
      <vt:lpstr>Тема Office</vt:lpstr>
      <vt:lpstr>Презентация PowerPoint</vt:lpstr>
      <vt:lpstr>Dars rejasi:</vt:lpstr>
      <vt:lpstr>8.1 Built-in funksiyalar</vt:lpstr>
      <vt:lpstr>8.1 Built-in funksiyalar</vt:lpstr>
      <vt:lpstr>8.2 Funksiyalar</vt:lpstr>
      <vt:lpstr>8.2 Funksiyalar. Docstring yozish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8.5 Lambda funksiyalar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123</dc:creator>
  <cp:lastModifiedBy>User</cp:lastModifiedBy>
  <cp:revision>160</cp:revision>
  <dcterms:created xsi:type="dcterms:W3CDTF">2021-01-26T11:27:43Z</dcterms:created>
  <dcterms:modified xsi:type="dcterms:W3CDTF">2021-06-15T06:20:10Z</dcterms:modified>
</cp:coreProperties>
</file>