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308" r:id="rId7"/>
    <p:sldId id="261" r:id="rId8"/>
    <p:sldId id="304" r:id="rId9"/>
    <p:sldId id="309" r:id="rId10"/>
    <p:sldId id="305" r:id="rId11"/>
    <p:sldId id="307" r:id="rId12"/>
    <p:sldId id="262" r:id="rId13"/>
    <p:sldId id="263" r:id="rId14"/>
    <p:sldId id="264" r:id="rId15"/>
    <p:sldId id="302" r:id="rId16"/>
    <p:sldId id="306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300"/>
    <a:srgbClr val="282A36"/>
    <a:srgbClr val="161719"/>
    <a:srgbClr val="C7C7C7"/>
    <a:srgbClr val="F1F1F1"/>
    <a:srgbClr val="F2F2F2"/>
    <a:srgbClr val="CBCBCB"/>
    <a:srgbClr val="EDEDED"/>
    <a:srgbClr val="EFEFE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2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53025-8E8F-4834-8C04-85DDDC2EE15E}" type="datetimeFigureOut">
              <a:rPr lang="ru-RU" smtClean="0"/>
              <a:t>20.05.2021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8193D-1F70-4C97-8F26-36A8D20076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63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945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5282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3896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6179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64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9362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52534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269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53542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4300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BF08B-00DD-4393-879F-1237413E8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223B8F-C6F9-4738-8C97-2D2328FF5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7EB1AA-FCC3-4A74-B11B-FA674576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20.05.2021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85F0F7-2FE9-4799-B492-6D7C9CBE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A16FAD-5BC4-4D77-AA3C-FBD60600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316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23D27-E746-4A1A-BE2F-F819E163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C49A60-4936-4321-B1FF-EF8C8080D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95B37E-E4FB-439A-941E-7EE0817E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20.05.2021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7B2D35-8490-4E57-A29D-2FAD5ABF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E93C94-A7F2-4B4C-AB75-FE25C1DB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15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21D69-2657-46D2-B8A9-A3680EC6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30EBAE-2BBE-47E7-AD82-88DA0AC9E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73437F-00AF-4473-9DDA-5A0486E5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20.05.2021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2003C-7A5E-4892-BCA6-5F8B65E5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85236A-4D87-4848-A5BD-580576E3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02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9C95-050C-46B4-8854-DBBB238B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501085-0FF2-43BD-8A95-9616340A1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08F9D3-C9A1-4792-BEA8-81D2ABB5E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98C345-FF23-4CB7-B751-DF802A4D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20.05.2021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D1FEF7-951F-4079-AFFC-207D8D42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E5131C-A473-4A9E-B9AF-3F6776E26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82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A7748-E3F3-4C74-83B7-6C502EDC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E5A719-ABE2-4248-8BA8-54786A97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3FE61D-73F0-4589-8E1A-FC760A0F4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61405B-A1FF-4AF1-A945-29F41C2A3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CE693E-DD47-4E42-813E-6F936DECE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1F4FB5C-39BD-460C-A6A7-06904E04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20.05.2021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DB7EDC0-B71F-479F-86AF-7352042D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EAE978-D57E-4FBC-8A17-43578086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922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F1F87-B12D-4EED-BA84-50147BD3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ED643E-2695-40B7-8AD2-68EE0C97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20.05.2021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D163A1-1D28-4C06-9F3A-E07842CC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24879F-803F-4247-ADDD-69851791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56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20DB330-28EB-484F-AB87-5F21BD61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20.05.2021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1CF81AE-3647-4A29-9252-59B6DF1F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3767E3-0B56-43F6-BF94-AA40797B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14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94F9A-497F-4977-9E93-A2E57EAC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25544A-1015-43BB-98E2-72AE4BED7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225B7E-CE30-4CCF-A7E6-BA432C857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4D04B5-C55D-4445-ADB0-EE94BD7C6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20.05.2021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A8F3BE-6253-4789-ACD4-74D54DDA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D55794-27B0-45E3-8CED-C231DD85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10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0A44E-222F-4CD8-968A-9B9A82375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A085646-1D27-4014-86EA-A6488D453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15D722-991B-46A6-9E57-8398F87A7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45AC8D-12FB-46CB-A4A5-3F248747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20.05.2021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288DF6-3506-4096-B65C-551E090D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D4FEEB-A3A7-47D1-894D-7C9A2466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85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761E8-DBB4-4067-A064-B9849118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7C9F05-B935-409A-AF70-CC63213E8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7231EB-A09D-4F0D-B084-A4FF5691E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20.05.2021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891726-6822-4763-9199-A496191A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C043A3-8D1A-4DD1-83F2-25AEBD05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6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B8B8D1-6DB4-46F4-BA7A-28F2F03EE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7DD97F-34C1-48CB-95EE-5E5EF1C59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96001E-3E8F-42F0-92FA-C0FC32D17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20.05.2021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D56BF3-15F6-40D4-A3B3-0A6C6B76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F35F84-A6B1-4AFD-9EA6-7C0BCC8A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844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AE934-63FD-4AD2-AA77-0141EA12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7AE77F-F8D8-4D86-9E3B-940DCBABA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82924D-6BFD-4A78-99BD-66448940A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35BF7-E6F2-43E3-83B0-7EA589B5F9DB}" type="datetimeFigureOut">
              <a:rPr lang="ru-RU" smtClean="0"/>
              <a:t>20.05.2021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17AD77-F473-4BDF-A3F4-78FED4F79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E6BBAD-4DAD-487E-B903-1E28293CC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57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52697F-EE34-456F-834B-103082437C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b="1" noProof="1"/>
              <a:t>3-dars</a:t>
            </a:r>
          </a:p>
          <a:p>
            <a:r>
              <a:rPr lang="en-US" sz="4400" b="1" noProof="1"/>
              <a:t>    String va uning metodlari</a:t>
            </a:r>
          </a:p>
        </p:txBody>
      </p:sp>
      <p:pic>
        <p:nvPicPr>
          <p:cNvPr id="4" name="logoPNG.png" descr="logoPNG.png">
            <a:extLst>
              <a:ext uri="{FF2B5EF4-FFF2-40B4-BE49-F238E27FC236}">
                <a16:creationId xmlns:a16="http://schemas.microsoft.com/office/drawing/2014/main" id="{61D711D9-D19C-4C63-BEC3-1E84357B9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73" y="633803"/>
            <a:ext cx="7928256" cy="29757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">
            <a:extLst>
              <a:ext uri="{FF2B5EF4-FFF2-40B4-BE49-F238E27FC236}">
                <a16:creationId xmlns:a16="http://schemas.microsoft.com/office/drawing/2014/main" id="{A76A65E3-1B5E-4480-BD49-964168D24BD1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336C90A-BDF3-47C5-AA99-358CBDAC3790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19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B83BB6-D9E8-4E8D-B2FC-90E97DCC9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1">
                <a:solidFill>
                  <a:srgbClr val="0070C0"/>
                </a:solidFill>
              </a:rPr>
              <a:t>Dars rejasi: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6616841-1966-4591-BC84-63C8BDD64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100832"/>
            <a:ext cx="10515600" cy="3983655"/>
          </a:xfrm>
          <a:prstGeom prst="rect">
            <a:avLst/>
          </a:prstGeom>
          <a:solidFill>
            <a:srgbClr val="FFF7EB"/>
          </a:solidFill>
          <a:ln w="12700">
            <a:solidFill>
              <a:srgbClr val="F9A75E"/>
            </a:solidFill>
            <a:miter lim="800000"/>
            <a:headEnd/>
            <a:tailEnd/>
          </a:ln>
        </p:spPr>
        <p:txBody>
          <a:bodyPr vert="horz" wrap="square" lIns="182880" tIns="91440" rIns="182880" bIns="91440" numCol="1" rtlCol="0" anchor="t" anchorCtr="0" compatLnSpc="1">
            <a:prstTxWarp prst="textNoShape">
              <a:avLst/>
            </a:prstTxWarp>
            <a:spAutoFit/>
          </a:bodyPr>
          <a:lstStyle>
            <a:lvl1pPr marL="798513" indent="-798513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35000"/>
              </a:spcAft>
              <a:buClr>
                <a:srgbClr val="4E87C6"/>
              </a:buClr>
              <a:buFont typeface="Wingdings" panose="05000000000000000000" pitchFamily="2" charset="2"/>
              <a:buChar char="•"/>
              <a:defRPr sz="20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1712913" indent="-798513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  <a:defRPr sz="20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3711575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54475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97375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545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117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689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261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ko-KR" sz="2800" dirty="0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3.1</a:t>
            </a:r>
            <a:r>
              <a:rPr lang="en-US" altLang="ko-KR" sz="2800" dirty="0">
                <a:ea typeface="Times New Roman" panose="02020603050405020304" pitchFamily="18" charset="0"/>
                <a:cs typeface="Arial" panose="020B0604020202020204" pitchFamily="34" charset="0"/>
              </a:rPr>
              <a:t> 	</a:t>
            </a:r>
            <a:r>
              <a:rPr lang="en-US" altLang="ko-KR" sz="2800" noProof="1">
                <a:ea typeface="Times New Roman" panose="02020603050405020304" pitchFamily="18" charset="0"/>
                <a:cs typeface="Arial" panose="020B0604020202020204" pitchFamily="34" charset="0"/>
              </a:rPr>
              <a:t>String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2800" noProof="1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3.2</a:t>
            </a:r>
            <a:r>
              <a:rPr lang="en-US" altLang="ko-KR" sz="2800" noProof="1">
                <a:ea typeface="Times New Roman" panose="02020603050405020304" pitchFamily="18" charset="0"/>
                <a:cs typeface="Arial" panose="020B0604020202020204" pitchFamily="34" charset="0"/>
              </a:rPr>
              <a:t> 	len() funksiyasi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2800" dirty="0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3.3</a:t>
            </a:r>
            <a:r>
              <a:rPr lang="en-US" altLang="ko-KR" sz="2800" dirty="0">
                <a:ea typeface="Times New Roman" panose="02020603050405020304" pitchFamily="18" charset="0"/>
                <a:cs typeface="Arial" panose="020B0604020202020204" pitchFamily="34" charset="0"/>
              </a:rPr>
              <a:t> 	</a:t>
            </a:r>
            <a:r>
              <a:rPr lang="en-US" altLang="ko-KR" sz="2800" noProof="1">
                <a:ea typeface="Times New Roman" panose="02020603050405020304" pitchFamily="18" charset="0"/>
                <a:cs typeface="Arial" panose="020B0604020202020204" pitchFamily="34" charset="0"/>
              </a:rPr>
              <a:t>String indexing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2800" noProof="1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3.4</a:t>
            </a:r>
            <a:r>
              <a:rPr lang="en-US" altLang="ko-KR" sz="2800" noProof="1">
                <a:ea typeface="Times New Roman" panose="02020603050405020304" pitchFamily="18" charset="0"/>
                <a:cs typeface="Arial" panose="020B0604020202020204" pitchFamily="34" charset="0"/>
              </a:rPr>
              <a:t> 	String metodlari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2800" noProof="1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3.5</a:t>
            </a:r>
            <a:r>
              <a:rPr lang="en-US" altLang="ko-KR" sz="2800" noProof="1">
                <a:ea typeface="Times New Roman" panose="02020603050405020304" pitchFamily="18" charset="0"/>
                <a:cs typeface="Arial" panose="020B0604020202020204" pitchFamily="34" charset="0"/>
              </a:rPr>
              <a:t> 	</a:t>
            </a:r>
            <a:r>
              <a:rPr lang="en-US" altLang="ko-KR" sz="2800" dirty="0">
                <a:ea typeface="Times New Roman" panose="02020603050405020304" pitchFamily="18" charset="0"/>
                <a:cs typeface="Arial" panose="020B0604020202020204" pitchFamily="34" charset="0"/>
              </a:rPr>
              <a:t>f string </a:t>
            </a:r>
            <a:endParaRPr lang="en-US" altLang="ko-KR" sz="2800" noProof="1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ko-KR" sz="2800" noProof="1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3.6</a:t>
            </a:r>
            <a:r>
              <a:rPr lang="en-US" altLang="ko-KR" sz="2800" noProof="1">
                <a:ea typeface="Times New Roman" panose="02020603050405020304" pitchFamily="18" charset="0"/>
                <a:cs typeface="Arial" panose="020B0604020202020204" pitchFamily="34" charset="0"/>
              </a:rPr>
              <a:t>	Vazifa</a:t>
            </a:r>
          </a:p>
          <a:p>
            <a:pPr marL="0" indent="0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en-US" altLang="ko-KR" sz="22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ko-KR" sz="2200" dirty="0">
                <a:solidFill>
                  <a:srgbClr val="504A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0468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39D4D-EF5A-452F-BACB-CC71A7AD8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3.1 String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E9B2BF-9B77-46FE-AAF1-7DF8B8E73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172" y="1690688"/>
            <a:ext cx="3275860" cy="4486275"/>
          </a:xfrm>
        </p:spPr>
        <p:txBody>
          <a:bodyPr/>
          <a:lstStyle/>
          <a:p>
            <a:pPr marL="0" indent="0">
              <a:buNone/>
            </a:pPr>
            <a:r>
              <a:rPr lang="en-US" b="1" noProof="1"/>
              <a:t>String – matn </a:t>
            </a:r>
          </a:p>
          <a:p>
            <a:pPr marL="0" indent="0">
              <a:buNone/>
            </a:pPr>
            <a:r>
              <a:rPr lang="en-US" b="1" noProof="1"/>
              <a:t>ko’rinishidagi </a:t>
            </a:r>
          </a:p>
          <a:p>
            <a:pPr marL="0" indent="0">
              <a:buNone/>
            </a:pPr>
            <a:r>
              <a:rPr lang="en-US" b="1" noProof="1"/>
              <a:t>ma’lumot turi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54CA2A1-3197-48A1-86B9-7EAC84AD3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291" y="1050059"/>
            <a:ext cx="8313753" cy="5819627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2C7636F-BC0D-44F6-B7E4-983B41308DDA}"/>
              </a:ext>
            </a:extLst>
          </p:cNvPr>
          <p:cNvSpPr/>
          <p:nvPr/>
        </p:nvSpPr>
        <p:spPr>
          <a:xfrm>
            <a:off x="4003829" y="4634144"/>
            <a:ext cx="7253056" cy="239697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72B0AE4-E400-4D73-B781-1DF0189714A7}"/>
              </a:ext>
            </a:extLst>
          </p:cNvPr>
          <p:cNvSpPr/>
          <p:nvPr/>
        </p:nvSpPr>
        <p:spPr>
          <a:xfrm>
            <a:off x="11079332" y="1855433"/>
            <a:ext cx="177553" cy="3018408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1403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87BF2-1293-45D7-BC82-AF9DF0B11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864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3.2 </a:t>
            </a:r>
            <a:r>
              <a:rPr lang="en-US" b="1" noProof="1">
                <a:solidFill>
                  <a:srgbClr val="0070C0"/>
                </a:solidFill>
              </a:rPr>
              <a:t>len() funksiyasi</a:t>
            </a: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89E4276-B77A-4EE7-A0CC-6F1AADF7B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559" y="1244403"/>
            <a:ext cx="8840310" cy="5613597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87917E9-4317-446E-8B96-E99ABD8C31F3}"/>
              </a:ext>
            </a:extLst>
          </p:cNvPr>
          <p:cNvSpPr/>
          <p:nvPr/>
        </p:nvSpPr>
        <p:spPr>
          <a:xfrm>
            <a:off x="1899821" y="6249880"/>
            <a:ext cx="8211845" cy="53266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7697C2D-2101-4A7A-851E-BD6540567C46}"/>
              </a:ext>
            </a:extLst>
          </p:cNvPr>
          <p:cNvSpPr/>
          <p:nvPr/>
        </p:nvSpPr>
        <p:spPr>
          <a:xfrm>
            <a:off x="9987379" y="2050742"/>
            <a:ext cx="124287" cy="4252404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FD20129-47FD-4238-BE81-EF9ED2D96F4E}"/>
              </a:ext>
            </a:extLst>
          </p:cNvPr>
          <p:cNvSpPr/>
          <p:nvPr/>
        </p:nvSpPr>
        <p:spPr>
          <a:xfrm>
            <a:off x="9756559" y="1244403"/>
            <a:ext cx="453310" cy="433477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B0FC3B9-135C-40A3-B505-2E8375931AA8}"/>
              </a:ext>
            </a:extLst>
          </p:cNvPr>
          <p:cNvSpPr/>
          <p:nvPr/>
        </p:nvSpPr>
        <p:spPr>
          <a:xfrm>
            <a:off x="9756559" y="6424523"/>
            <a:ext cx="453310" cy="433477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346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87BF2-1293-45D7-BC82-AF9DF0B1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3.3 String indexing</a:t>
            </a:r>
            <a:endParaRPr lang="ru-RU" b="1" dirty="0">
              <a:solidFill>
                <a:srgbClr val="0070C0"/>
              </a:solidFill>
            </a:endParaRP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38BB5774-4540-4523-A634-563E10FB2D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7104041"/>
              </p:ext>
            </p:extLst>
          </p:nvPr>
        </p:nvGraphicFramePr>
        <p:xfrm>
          <a:off x="5402896" y="942823"/>
          <a:ext cx="6223248" cy="1158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37208">
                  <a:extLst>
                    <a:ext uri="{9D8B030D-6E8A-4147-A177-3AD203B41FA5}">
                      <a16:colId xmlns:a16="http://schemas.microsoft.com/office/drawing/2014/main" val="3109790270"/>
                    </a:ext>
                  </a:extLst>
                </a:gridCol>
                <a:gridCol w="1037208">
                  <a:extLst>
                    <a:ext uri="{9D8B030D-6E8A-4147-A177-3AD203B41FA5}">
                      <a16:colId xmlns:a16="http://schemas.microsoft.com/office/drawing/2014/main" val="2961953553"/>
                    </a:ext>
                  </a:extLst>
                </a:gridCol>
                <a:gridCol w="1037208">
                  <a:extLst>
                    <a:ext uri="{9D8B030D-6E8A-4147-A177-3AD203B41FA5}">
                      <a16:colId xmlns:a16="http://schemas.microsoft.com/office/drawing/2014/main" val="127640843"/>
                    </a:ext>
                  </a:extLst>
                </a:gridCol>
                <a:gridCol w="1037208">
                  <a:extLst>
                    <a:ext uri="{9D8B030D-6E8A-4147-A177-3AD203B41FA5}">
                      <a16:colId xmlns:a16="http://schemas.microsoft.com/office/drawing/2014/main" val="2062241195"/>
                    </a:ext>
                  </a:extLst>
                </a:gridCol>
                <a:gridCol w="1037208">
                  <a:extLst>
                    <a:ext uri="{9D8B030D-6E8A-4147-A177-3AD203B41FA5}">
                      <a16:colId xmlns:a16="http://schemas.microsoft.com/office/drawing/2014/main" val="1862006067"/>
                    </a:ext>
                  </a:extLst>
                </a:gridCol>
                <a:gridCol w="1037208">
                  <a:extLst>
                    <a:ext uri="{9D8B030D-6E8A-4147-A177-3AD203B41FA5}">
                      <a16:colId xmlns:a16="http://schemas.microsoft.com/office/drawing/2014/main" val="2210097651"/>
                    </a:ext>
                  </a:extLst>
                </a:gridCol>
              </a:tblGrid>
              <a:tr h="395885">
                <a:tc>
                  <a:txBody>
                    <a:bodyPr/>
                    <a:lstStyle/>
                    <a:p>
                      <a:r>
                        <a:rPr lang="en-US" dirty="0"/>
                        <a:t>       </a:t>
                      </a:r>
                      <a:r>
                        <a:rPr lang="en-US" sz="3200" dirty="0"/>
                        <a:t>P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</a:t>
                      </a:r>
                      <a:r>
                        <a:rPr lang="en-US" sz="3200" dirty="0"/>
                        <a:t>y 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</a:t>
                      </a:r>
                      <a:r>
                        <a:rPr lang="en-US" sz="3200" dirty="0"/>
                        <a:t>t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</a:t>
                      </a:r>
                      <a:r>
                        <a:rPr lang="en-US" sz="3200" dirty="0"/>
                        <a:t>h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</a:t>
                      </a:r>
                      <a:r>
                        <a:rPr lang="en-US" sz="3200" dirty="0"/>
                        <a:t>o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</a:t>
                      </a:r>
                      <a:r>
                        <a:rPr lang="en-US" sz="3200" dirty="0"/>
                        <a:t>n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885462"/>
                  </a:ext>
                </a:extLst>
              </a:tr>
              <a:tr h="395885">
                <a:tc>
                  <a:txBody>
                    <a:bodyPr/>
                    <a:lstStyle/>
                    <a:p>
                      <a:r>
                        <a:rPr lang="en-US" dirty="0"/>
                        <a:t>       </a:t>
                      </a:r>
                      <a:r>
                        <a:rPr lang="en-US" sz="3200" dirty="0"/>
                        <a:t>0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</a:t>
                      </a:r>
                      <a:r>
                        <a:rPr lang="en-US" sz="3200" dirty="0"/>
                        <a:t>1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    2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</a:t>
                      </a:r>
                      <a:r>
                        <a:rPr lang="en-US" sz="3200" dirty="0"/>
                        <a:t>3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</a:t>
                      </a:r>
                      <a:r>
                        <a:rPr lang="en-US" sz="3200" dirty="0"/>
                        <a:t>4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</a:t>
                      </a:r>
                      <a:r>
                        <a:rPr lang="en-US" sz="3200" dirty="0"/>
                        <a:t>5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609787"/>
                  </a:ext>
                </a:extLst>
              </a:tr>
            </a:tbl>
          </a:graphicData>
        </a:graphic>
      </p:graphicFrame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CEF5EC-55AE-4D31-A996-0CAA37630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8" y="2112749"/>
            <a:ext cx="9060833" cy="4756937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91F10C9-EFD4-4F36-89C4-F1667A3E7145}"/>
              </a:ext>
            </a:extLst>
          </p:cNvPr>
          <p:cNvSpPr/>
          <p:nvPr/>
        </p:nvSpPr>
        <p:spPr>
          <a:xfrm>
            <a:off x="1269507" y="6223247"/>
            <a:ext cx="8176334" cy="115409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AF4025D-A91E-4485-9391-16E5692700B3}"/>
              </a:ext>
            </a:extLst>
          </p:cNvPr>
          <p:cNvSpPr/>
          <p:nvPr/>
        </p:nvSpPr>
        <p:spPr>
          <a:xfrm>
            <a:off x="9321553" y="2805344"/>
            <a:ext cx="124288" cy="3417903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787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-2" y="0"/>
            <a:ext cx="6096000" cy="6858000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6095998" y="0"/>
            <a:ext cx="609600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137D4B02-CDF2-42FC-987C-1E088CB24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436" y="196449"/>
            <a:ext cx="10828816" cy="1325563"/>
          </a:xfrm>
        </p:spPr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 3.3 String </a:t>
            </a:r>
            <a:r>
              <a:rPr lang="en-US" b="1" noProof="1">
                <a:solidFill>
                  <a:schemeClr val="bg2"/>
                </a:solidFill>
              </a:rPr>
              <a:t>indexing.   Teskarisini chiqarish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15B8DD-A11A-42B4-A089-514FDFD45A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69" y="1962150"/>
            <a:ext cx="4819650" cy="29337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35E964B-180C-4DF1-8244-0E1E997A9ABC}"/>
              </a:ext>
            </a:extLst>
          </p:cNvPr>
          <p:cNvSpPr/>
          <p:nvPr/>
        </p:nvSpPr>
        <p:spPr>
          <a:xfrm>
            <a:off x="1296139" y="4216893"/>
            <a:ext cx="3675356" cy="168676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E8988C6-BF4A-4347-BF0A-EF77C704B92F}"/>
              </a:ext>
            </a:extLst>
          </p:cNvPr>
          <p:cNvSpPr/>
          <p:nvPr/>
        </p:nvSpPr>
        <p:spPr>
          <a:xfrm>
            <a:off x="4971495" y="2876365"/>
            <a:ext cx="124288" cy="1420427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6CF6C63-D6A0-4C4A-A4BB-BB97394072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389" y="1962150"/>
            <a:ext cx="4819650" cy="2933700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F0BCDF-A517-4D5B-99AB-EA13F2488A3C}"/>
              </a:ext>
            </a:extLst>
          </p:cNvPr>
          <p:cNvSpPr/>
          <p:nvPr/>
        </p:nvSpPr>
        <p:spPr>
          <a:xfrm>
            <a:off x="4811698" y="2876365"/>
            <a:ext cx="221942" cy="1420427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F77F5F4-CB93-4555-890F-95C150A08FA6}"/>
              </a:ext>
            </a:extLst>
          </p:cNvPr>
          <p:cNvSpPr/>
          <p:nvPr/>
        </p:nvSpPr>
        <p:spPr>
          <a:xfrm>
            <a:off x="10715348" y="2787588"/>
            <a:ext cx="180513" cy="1597981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158F4F5-EAF6-4190-BCD7-65886F8D3775}"/>
              </a:ext>
            </a:extLst>
          </p:cNvPr>
          <p:cNvSpPr/>
          <p:nvPr/>
        </p:nvSpPr>
        <p:spPr>
          <a:xfrm>
            <a:off x="7173157" y="4216893"/>
            <a:ext cx="3617188" cy="168676"/>
          </a:xfrm>
          <a:prstGeom prst="rect">
            <a:avLst/>
          </a:prstGeom>
          <a:solidFill>
            <a:srgbClr val="28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927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-2" y="0"/>
            <a:ext cx="6096000" cy="6858000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6095998" y="0"/>
            <a:ext cx="609600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5117B6-F83C-4041-BABE-85FEBCAADD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5" y="1921553"/>
            <a:ext cx="5371607" cy="3014894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137D4B02-CDF2-42FC-987C-1E088CB24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436" y="196449"/>
            <a:ext cx="8316436" cy="1325563"/>
          </a:xfrm>
        </p:spPr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 3.4 String </a:t>
            </a:r>
            <a:r>
              <a:rPr lang="en-US" b="1" noProof="1">
                <a:solidFill>
                  <a:schemeClr val="bg2"/>
                </a:solidFill>
              </a:rPr>
              <a:t>metodlari.   upper()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1BA1FE8-B3D5-45DD-B50D-718C31C70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953" y="1921553"/>
            <a:ext cx="5371607" cy="3014894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EC81717-D081-4C83-BBDA-21D378CED94C}"/>
              </a:ext>
            </a:extLst>
          </p:cNvPr>
          <p:cNvSpPr/>
          <p:nvPr/>
        </p:nvSpPr>
        <p:spPr>
          <a:xfrm>
            <a:off x="1056443" y="4216893"/>
            <a:ext cx="4039340" cy="62144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BC6D678-B6DE-41E6-9725-C5ED101E9769}"/>
              </a:ext>
            </a:extLst>
          </p:cNvPr>
          <p:cNvSpPr/>
          <p:nvPr/>
        </p:nvSpPr>
        <p:spPr>
          <a:xfrm>
            <a:off x="4989250" y="2920753"/>
            <a:ext cx="142044" cy="1327212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79C6CCE-8EAB-4349-8C56-69822517FE12}"/>
              </a:ext>
            </a:extLst>
          </p:cNvPr>
          <p:cNvSpPr/>
          <p:nvPr/>
        </p:nvSpPr>
        <p:spPr>
          <a:xfrm>
            <a:off x="1056443" y="4154749"/>
            <a:ext cx="4110361" cy="62144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D481825-03F1-41FD-9B70-277D3C0EDDED}"/>
              </a:ext>
            </a:extLst>
          </p:cNvPr>
          <p:cNvSpPr/>
          <p:nvPr/>
        </p:nvSpPr>
        <p:spPr>
          <a:xfrm>
            <a:off x="7048870" y="4154749"/>
            <a:ext cx="4086687" cy="124288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343EB62-C366-40F4-B3E3-0D4BC7FB59BD}"/>
              </a:ext>
            </a:extLst>
          </p:cNvPr>
          <p:cNvSpPr/>
          <p:nvPr/>
        </p:nvSpPr>
        <p:spPr>
          <a:xfrm>
            <a:off x="10981678" y="2920753"/>
            <a:ext cx="153879" cy="1233996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2967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-2" y="0"/>
            <a:ext cx="6096000" cy="6858000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6095998" y="0"/>
            <a:ext cx="609600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137D4B02-CDF2-42FC-987C-1E088CB24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436" y="196449"/>
            <a:ext cx="8316436" cy="1325563"/>
          </a:xfrm>
        </p:spPr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 3.4 String </a:t>
            </a:r>
            <a:r>
              <a:rPr lang="en-US" b="1" noProof="1">
                <a:solidFill>
                  <a:schemeClr val="bg2"/>
                </a:solidFill>
              </a:rPr>
              <a:t>metodlari.   lower()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BFFC702-7F0B-457A-9A52-AC563E1D32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953" y="1921553"/>
            <a:ext cx="5371607" cy="301489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29E9CA7-D01B-42DE-B565-6F3B3CD578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" y="1921553"/>
            <a:ext cx="5371607" cy="3014894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5A517F4-357D-427C-9497-90F9567A2835}"/>
              </a:ext>
            </a:extLst>
          </p:cNvPr>
          <p:cNvSpPr/>
          <p:nvPr/>
        </p:nvSpPr>
        <p:spPr>
          <a:xfrm>
            <a:off x="932155" y="4172505"/>
            <a:ext cx="4128117" cy="115410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E8F2024-265A-42C7-9EC6-22961B5EF2EF}"/>
              </a:ext>
            </a:extLst>
          </p:cNvPr>
          <p:cNvSpPr/>
          <p:nvPr/>
        </p:nvSpPr>
        <p:spPr>
          <a:xfrm>
            <a:off x="4935984" y="2911876"/>
            <a:ext cx="124288" cy="1376039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E81812-DA38-433B-8880-3EC7BBB636EE}"/>
              </a:ext>
            </a:extLst>
          </p:cNvPr>
          <p:cNvSpPr/>
          <p:nvPr/>
        </p:nvSpPr>
        <p:spPr>
          <a:xfrm>
            <a:off x="7022237" y="4172505"/>
            <a:ext cx="4134035" cy="115410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8EE625E-5BA6-44F7-934E-77D586A536FC}"/>
              </a:ext>
            </a:extLst>
          </p:cNvPr>
          <p:cNvSpPr/>
          <p:nvPr/>
        </p:nvSpPr>
        <p:spPr>
          <a:xfrm>
            <a:off x="11008311" y="2911876"/>
            <a:ext cx="147961" cy="1376039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8916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-2" y="0"/>
            <a:ext cx="6096000" cy="6858000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6095998" y="0"/>
            <a:ext cx="609600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137D4B02-CDF2-42FC-987C-1E088CB24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436" y="196449"/>
            <a:ext cx="8316436" cy="1325563"/>
          </a:xfrm>
        </p:spPr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 3.4 String </a:t>
            </a:r>
            <a:r>
              <a:rPr lang="en-US" b="1" noProof="1">
                <a:solidFill>
                  <a:schemeClr val="bg2"/>
                </a:solidFill>
              </a:rPr>
              <a:t>metodlari.   capitalize()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279BC3-A21D-4D88-8110-7FCE7F44FC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37" y="2006537"/>
            <a:ext cx="5206449" cy="3169143"/>
          </a:xfrm>
          <a:prstGeom prst="rect">
            <a:avLst/>
          </a:prstGeom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3C3F822-12F8-4F3E-B402-AA2FC2B28294}"/>
              </a:ext>
            </a:extLst>
          </p:cNvPr>
          <p:cNvSpPr/>
          <p:nvPr/>
        </p:nvSpPr>
        <p:spPr>
          <a:xfrm>
            <a:off x="1145219" y="4438835"/>
            <a:ext cx="3986074" cy="106532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7B363B1-4900-47F2-AC53-169E5277C7B5}"/>
              </a:ext>
            </a:extLst>
          </p:cNvPr>
          <p:cNvSpPr/>
          <p:nvPr/>
        </p:nvSpPr>
        <p:spPr>
          <a:xfrm>
            <a:off x="4927107" y="2982897"/>
            <a:ext cx="204186" cy="1562470"/>
          </a:xfrm>
          <a:prstGeom prst="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D4F0F5D-6342-4016-8E70-575998EE7F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310" y="1962150"/>
            <a:ext cx="5279371" cy="3213530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9F3CBD3-3B3B-4939-A410-0BB49638E60B}"/>
              </a:ext>
            </a:extLst>
          </p:cNvPr>
          <p:cNvSpPr/>
          <p:nvPr/>
        </p:nvSpPr>
        <p:spPr>
          <a:xfrm>
            <a:off x="7093258" y="4438835"/>
            <a:ext cx="4039340" cy="106532"/>
          </a:xfrm>
          <a:prstGeom prst="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A177011-A0A7-4903-97CF-60FA9490A19A}"/>
              </a:ext>
            </a:extLst>
          </p:cNvPr>
          <p:cNvSpPr/>
          <p:nvPr/>
        </p:nvSpPr>
        <p:spPr>
          <a:xfrm>
            <a:off x="10981678" y="2982897"/>
            <a:ext cx="150920" cy="1455938"/>
          </a:xfrm>
          <a:prstGeom prst="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709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-2" y="0"/>
            <a:ext cx="6096000" cy="6858000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6095998" y="0"/>
            <a:ext cx="609600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137D4B02-CDF2-42FC-987C-1E088CB24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436" y="196449"/>
            <a:ext cx="8316436" cy="1325563"/>
          </a:xfrm>
        </p:spPr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 3.4 String </a:t>
            </a:r>
            <a:r>
              <a:rPr lang="en-US" b="1" noProof="1">
                <a:solidFill>
                  <a:schemeClr val="bg2"/>
                </a:solidFill>
              </a:rPr>
              <a:t>metodlari.    title()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34A4836-0E44-472F-A779-2AE940DBCF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4" y="1921553"/>
            <a:ext cx="5371607" cy="3014894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B14D92E-126B-4C78-B85E-95B00C1D9D43}"/>
              </a:ext>
            </a:extLst>
          </p:cNvPr>
          <p:cNvSpPr/>
          <p:nvPr/>
        </p:nvSpPr>
        <p:spPr>
          <a:xfrm>
            <a:off x="1029810" y="4172505"/>
            <a:ext cx="4580877" cy="142043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69A29E6-1313-46CB-9D7A-6EE332FF6BF4}"/>
              </a:ext>
            </a:extLst>
          </p:cNvPr>
          <p:cNvSpPr/>
          <p:nvPr/>
        </p:nvSpPr>
        <p:spPr>
          <a:xfrm>
            <a:off x="5513034" y="2911876"/>
            <a:ext cx="97654" cy="1260629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8274AB1-795C-4677-8BB4-B6E353B9FB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954" y="1921553"/>
            <a:ext cx="5371607" cy="3014894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B397967-A123-4975-B9A1-E4C9DC3A41A3}"/>
              </a:ext>
            </a:extLst>
          </p:cNvPr>
          <p:cNvSpPr/>
          <p:nvPr/>
        </p:nvSpPr>
        <p:spPr>
          <a:xfrm>
            <a:off x="7057748" y="4172505"/>
            <a:ext cx="4648939" cy="142043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BAF3D2F-1E05-44D2-9EFE-FCEEC6C2908A}"/>
              </a:ext>
            </a:extLst>
          </p:cNvPr>
          <p:cNvSpPr/>
          <p:nvPr/>
        </p:nvSpPr>
        <p:spPr>
          <a:xfrm>
            <a:off x="11467603" y="2911876"/>
            <a:ext cx="162145" cy="1260629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562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4FFB4C1-9DF6-4047-B626-4DF8FE402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495" y="-17477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3.4 String </a:t>
            </a:r>
            <a:r>
              <a:rPr lang="en-US" b="1" noProof="1">
                <a:solidFill>
                  <a:schemeClr val="accent1"/>
                </a:solidFill>
              </a:rPr>
              <a:t>metodlari.</a:t>
            </a:r>
            <a:endParaRPr lang="ru-RU" b="1" dirty="0">
              <a:solidFill>
                <a:schemeClr val="accent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75418CB-B85E-4A9A-B37E-76B594B83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83390"/>
            <a:ext cx="10618304" cy="557461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2D65A4B-788E-49CF-9B15-40B9499BA73E}"/>
              </a:ext>
            </a:extLst>
          </p:cNvPr>
          <p:cNvSpPr/>
          <p:nvPr/>
        </p:nvSpPr>
        <p:spPr>
          <a:xfrm>
            <a:off x="1322773" y="5442012"/>
            <a:ext cx="9570128" cy="132598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5AD66DA-08C4-4920-B29F-AB0F7C746521}"/>
              </a:ext>
            </a:extLst>
          </p:cNvPr>
          <p:cNvSpPr/>
          <p:nvPr/>
        </p:nvSpPr>
        <p:spPr>
          <a:xfrm>
            <a:off x="10824838" y="2104008"/>
            <a:ext cx="88777" cy="3338004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EB7A3B14-E538-4A68-A5EC-B536252889BA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BB453250-3D3B-42CD-93FB-4603A651371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3095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87BF2-1293-45D7-BC82-AF9DF0B11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3.4 String </a:t>
            </a:r>
            <a:r>
              <a:rPr lang="en-US" b="1" noProof="1">
                <a:solidFill>
                  <a:schemeClr val="accent1"/>
                </a:solidFill>
              </a:rPr>
              <a:t>metodlari.</a:t>
            </a:r>
            <a:endParaRPr lang="ru-RU" b="1" dirty="0">
              <a:solidFill>
                <a:schemeClr val="accent1"/>
              </a:solidFill>
            </a:endParaRP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4AC96AD-CC70-4184-B29F-C15B4F702E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284" y="1690688"/>
            <a:ext cx="7143750" cy="481965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1687397-6B27-4C1B-AAEB-DB13DEF9C35E}"/>
              </a:ext>
            </a:extLst>
          </p:cNvPr>
          <p:cNvSpPr/>
          <p:nvPr/>
        </p:nvSpPr>
        <p:spPr>
          <a:xfrm>
            <a:off x="8868885" y="1690688"/>
            <a:ext cx="497149" cy="475463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45E7775-257E-4C2B-B6CB-BB33C12A67AD}"/>
              </a:ext>
            </a:extLst>
          </p:cNvPr>
          <p:cNvSpPr/>
          <p:nvPr/>
        </p:nvSpPr>
        <p:spPr>
          <a:xfrm>
            <a:off x="8868885" y="6036816"/>
            <a:ext cx="497149" cy="473522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62DDCBB-2FB8-4A36-AF0F-39B76F7F9421}"/>
              </a:ext>
            </a:extLst>
          </p:cNvPr>
          <p:cNvSpPr/>
          <p:nvPr/>
        </p:nvSpPr>
        <p:spPr>
          <a:xfrm>
            <a:off x="2769833" y="5814874"/>
            <a:ext cx="6480699" cy="106532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9A6452B-6A52-48CE-9FFE-03CE3E5A91EE}"/>
              </a:ext>
            </a:extLst>
          </p:cNvPr>
          <p:cNvSpPr/>
          <p:nvPr/>
        </p:nvSpPr>
        <p:spPr>
          <a:xfrm>
            <a:off x="9144000" y="2601157"/>
            <a:ext cx="106532" cy="3266983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951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87BF2-1293-45D7-BC82-AF9DF0B1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3.5  f string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806CB1B-42D6-4377-BA5F-2D36AA0755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5" y="1690688"/>
            <a:ext cx="10001250" cy="47625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44B02F2-222F-4495-B609-0905B59AAA2C}"/>
              </a:ext>
            </a:extLst>
          </p:cNvPr>
          <p:cNvSpPr/>
          <p:nvPr/>
        </p:nvSpPr>
        <p:spPr>
          <a:xfrm>
            <a:off x="5859262" y="1690688"/>
            <a:ext cx="5237363" cy="475463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611F387-0614-4513-A667-E7DB2EA1E08C}"/>
              </a:ext>
            </a:extLst>
          </p:cNvPr>
          <p:cNvSpPr/>
          <p:nvPr/>
        </p:nvSpPr>
        <p:spPr>
          <a:xfrm>
            <a:off x="5859262" y="5977725"/>
            <a:ext cx="5237363" cy="475463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391E4CD-F779-41DC-87A9-40D4C03ACD67}"/>
              </a:ext>
            </a:extLst>
          </p:cNvPr>
          <p:cNvSpPr/>
          <p:nvPr/>
        </p:nvSpPr>
        <p:spPr>
          <a:xfrm>
            <a:off x="1633491" y="5486400"/>
            <a:ext cx="9365942" cy="124287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C24C3D3-6770-4F9F-9EEB-660087367AB1}"/>
              </a:ext>
            </a:extLst>
          </p:cNvPr>
          <p:cNvSpPr/>
          <p:nvPr/>
        </p:nvSpPr>
        <p:spPr>
          <a:xfrm>
            <a:off x="10866268" y="2592280"/>
            <a:ext cx="133165" cy="3018407"/>
          </a:xfrm>
          <a:prstGeom prst="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4021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87BF2-1293-45D7-BC82-AF9DF0B1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1">
                <a:solidFill>
                  <a:srgbClr val="0070C0"/>
                </a:solidFill>
              </a:rPr>
              <a:t>Mashq</a:t>
            </a: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61A872F0-0AB4-4DEA-B917-EAF5AFF48EBD}"/>
              </a:ext>
            </a:extLst>
          </p:cNvPr>
          <p:cNvSpPr txBox="1">
            <a:spLocks/>
          </p:cNvSpPr>
          <p:nvPr/>
        </p:nvSpPr>
        <p:spPr>
          <a:xfrm>
            <a:off x="838199" y="1593034"/>
            <a:ext cx="10578483" cy="24374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noProof="1"/>
              <a:t>Quyidagi matnni string metodlardan foydalanib chiroyli ko’rinishga keltiring va belgilangan joylarga o’zgaruvchilarni joylashtiring: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64974841-7A78-4847-B8DF-DD658C6C44E0}"/>
              </a:ext>
            </a:extLst>
          </p:cNvPr>
          <p:cNvSpPr txBox="1">
            <a:spLocks/>
          </p:cNvSpPr>
          <p:nvPr/>
        </p:nvSpPr>
        <p:spPr>
          <a:xfrm>
            <a:off x="838198" y="3799644"/>
            <a:ext cx="10515602" cy="1843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56D3C52-07BF-4C2F-92DF-A1DD262DDFAC}"/>
              </a:ext>
            </a:extLst>
          </p:cNvPr>
          <p:cNvSpPr/>
          <p:nvPr/>
        </p:nvSpPr>
        <p:spPr>
          <a:xfrm>
            <a:off x="838197" y="4298985"/>
            <a:ext cx="104453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o’zbEk tiliga 1989-yIL  21– oktabr kuni ‘DAVlat tili’ maQOMi berilgan.          </a:t>
            </a:r>
          </a:p>
          <a:p>
            <a:endParaRPr lang="en-US" sz="2400" noProof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578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87BF2-1293-45D7-BC82-AF9DF0B1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1">
                <a:solidFill>
                  <a:srgbClr val="0070C0"/>
                </a:solidFill>
              </a:rPr>
              <a:t>Vazifa</a:t>
            </a: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94A8783-D0DC-4E33-BFF0-8A2BA0ED4B8D}"/>
              </a:ext>
            </a:extLst>
          </p:cNvPr>
          <p:cNvSpPr txBox="1">
            <a:spLocks noChangeArrowheads="1"/>
          </p:cNvSpPr>
          <p:nvPr/>
        </p:nvSpPr>
        <p:spPr>
          <a:xfrm>
            <a:off x="838199" y="1588911"/>
            <a:ext cx="10515600" cy="5082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sz="2000" dirty="0">
              <a:latin typeface="Arial Black" panose="020B0A040201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E761FB6-AD3E-46EF-B1FB-A96AB0CED046}"/>
              </a:ext>
            </a:extLst>
          </p:cNvPr>
          <p:cNvSpPr txBox="1">
            <a:spLocks noChangeArrowheads="1"/>
          </p:cNvSpPr>
          <p:nvPr/>
        </p:nvSpPr>
        <p:spPr>
          <a:xfrm>
            <a:off x="838197" y="1588911"/>
            <a:ext cx="10515599" cy="4903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endParaRPr lang="en-US" altLang="en-US" sz="16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E820DB5-8E4D-4F73-8A74-6C88D076C076}"/>
              </a:ext>
            </a:extLst>
          </p:cNvPr>
          <p:cNvSpPr/>
          <p:nvPr/>
        </p:nvSpPr>
        <p:spPr>
          <a:xfrm>
            <a:off x="710214" y="2914474"/>
            <a:ext cx="450312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noProof="1"/>
              <a:t>Vazifalar word faylga joylangan, o’sha faylga qaralsin!</a:t>
            </a:r>
          </a:p>
        </p:txBody>
      </p:sp>
      <p:pic>
        <p:nvPicPr>
          <p:cNvPr id="4" name="mp4">
            <a:hlinkClick r:id="" action="ppaction://media"/>
            <a:extLst>
              <a:ext uri="{FF2B5EF4-FFF2-40B4-BE49-F238E27FC236}">
                <a16:creationId xmlns:a16="http://schemas.microsoft.com/office/drawing/2014/main" id="{4FA72670-E53C-4580-9AE2-52E66A7A9A9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758021" y="1772842"/>
            <a:ext cx="5383452" cy="403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2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49B71F5-67BE-43B6-8BB6-FB4C8917B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74" y="86940"/>
            <a:ext cx="6915013" cy="6695805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DD3FC684-70AA-4980-AC5C-D2F8A4861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9234"/>
            <a:ext cx="10515600" cy="1325563"/>
          </a:xfrm>
        </p:spPr>
        <p:txBody>
          <a:bodyPr/>
          <a:lstStyle/>
          <a:p>
            <a:r>
              <a:rPr lang="en-US" b="1" noProof="1">
                <a:solidFill>
                  <a:srgbClr val="0070C0"/>
                </a:solidFill>
              </a:rPr>
              <a:t>#Darsimiz tamom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95B48066-49A6-4DE2-8BE9-8A2851B95501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0DC37406-3DF2-454C-8215-644D90D924F2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73127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1602</TotalTime>
  <Words>171</Words>
  <Application>Microsoft Office PowerPoint</Application>
  <PresentationFormat>Широкоэкранный</PresentationFormat>
  <Paragraphs>54</Paragraphs>
  <Slides>16</Slides>
  <Notes>10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Times New Roman</vt:lpstr>
      <vt:lpstr>Wingdings</vt:lpstr>
      <vt:lpstr>Тема Office</vt:lpstr>
      <vt:lpstr>Презентация PowerPoint</vt:lpstr>
      <vt:lpstr>Dars rejasi:</vt:lpstr>
      <vt:lpstr>3.1 String</vt:lpstr>
      <vt:lpstr>3.2 len() funksiyasi</vt:lpstr>
      <vt:lpstr>3.3 String indexing</vt:lpstr>
      <vt:lpstr> 3.3 String indexing.   Teskarisini chiqarish</vt:lpstr>
      <vt:lpstr> 3.4 String metodlari.   upper()</vt:lpstr>
      <vt:lpstr> 3.4 String metodlari.   lower()</vt:lpstr>
      <vt:lpstr> 3.4 String metodlari.   capitalize()</vt:lpstr>
      <vt:lpstr> 3.4 String metodlari.    title()</vt:lpstr>
      <vt:lpstr>3.4 String metodlari.</vt:lpstr>
      <vt:lpstr>3.4 String metodlari.</vt:lpstr>
      <vt:lpstr>3.5  f string</vt:lpstr>
      <vt:lpstr>Mashq</vt:lpstr>
      <vt:lpstr>Vazifa</vt:lpstr>
      <vt:lpstr>#Darsimiz tamom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123</dc:creator>
  <cp:lastModifiedBy>User</cp:lastModifiedBy>
  <cp:revision>88</cp:revision>
  <dcterms:created xsi:type="dcterms:W3CDTF">2021-01-26T11:27:43Z</dcterms:created>
  <dcterms:modified xsi:type="dcterms:W3CDTF">2021-05-20T09:30:58Z</dcterms:modified>
</cp:coreProperties>
</file>