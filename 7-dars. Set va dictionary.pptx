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314" r:id="rId4"/>
    <p:sldId id="316" r:id="rId5"/>
    <p:sldId id="315" r:id="rId6"/>
    <p:sldId id="309" r:id="rId7"/>
    <p:sldId id="317" r:id="rId8"/>
    <p:sldId id="260" r:id="rId9"/>
    <p:sldId id="259" r:id="rId10"/>
    <p:sldId id="310" r:id="rId11"/>
    <p:sldId id="312" r:id="rId12"/>
    <p:sldId id="262" r:id="rId13"/>
    <p:sldId id="311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F0F0F"/>
    <a:srgbClr val="FEFEFE"/>
    <a:srgbClr val="8E8E8E"/>
    <a:srgbClr val="080300"/>
    <a:srgbClr val="B3B366"/>
    <a:srgbClr val="282A36"/>
    <a:srgbClr val="002140"/>
    <a:srgbClr val="161719"/>
    <a:srgbClr val="C7C7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8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53025-8E8F-4834-8C04-85DDDC2EE15E}" type="datetimeFigureOut">
              <a:rPr lang="ru-RU" smtClean="0"/>
              <a:t>29.05.2021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193D-1F70-4C97-8F26-36A8D20076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3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030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402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945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3339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639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5253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BF08B-00DD-4393-879F-1237413E8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223B8F-C6F9-4738-8C97-2D2328FF5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EB1AA-FCC3-4A74-B11B-FA674576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29.05.2021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5F0F7-2FE9-4799-B492-6D7C9CBE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16FAD-5BC4-4D77-AA3C-FBD60600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316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23D27-E746-4A1A-BE2F-F819E163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C49A60-4936-4321-B1FF-EF8C8080D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95B37E-E4FB-439A-941E-7EE0817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29.05.2021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7B2D35-8490-4E57-A29D-2FAD5ABF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E93C94-A7F2-4B4C-AB75-FE25C1DB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15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21D69-2657-46D2-B8A9-A3680EC6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30EBAE-2BBE-47E7-AD82-88DA0AC9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73437F-00AF-4473-9DDA-5A0486E5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29.05.2021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2003C-7A5E-4892-BCA6-5F8B65E5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85236A-4D87-4848-A5BD-580576E3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02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9C95-050C-46B4-8854-DBBB238B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501085-0FF2-43BD-8A95-9616340A1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08F9D3-C9A1-4792-BEA8-81D2ABB5E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98C345-FF23-4CB7-B751-DF802A4D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29.05.2021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D1FEF7-951F-4079-AFFC-207D8D42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5131C-A473-4A9E-B9AF-3F6776E2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82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A7748-E3F3-4C74-83B7-6C502EDC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5A719-ABE2-4248-8BA8-54786A97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3FE61D-73F0-4589-8E1A-FC760A0F4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61405B-A1FF-4AF1-A945-29F41C2A3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CE693E-DD47-4E42-813E-6F936DECE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F4FB5C-39BD-460C-A6A7-06904E04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29.05.2021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B7EDC0-B71F-479F-86AF-7352042D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EAE978-D57E-4FBC-8A17-43578086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92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F1F87-B12D-4EED-BA84-50147BD3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ED643E-2695-40B7-8AD2-68EE0C97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29.05.2021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D163A1-1D28-4C06-9F3A-E07842CC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24879F-803F-4247-ADDD-69851791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56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0DB330-28EB-484F-AB87-5F21BD61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29.05.2021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CF81AE-3647-4A29-9252-59B6DF1F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3767E3-0B56-43F6-BF94-AA40797B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14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94F9A-497F-4977-9E93-A2E57EAC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25544A-1015-43BB-98E2-72AE4BED7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225B7E-CE30-4CCF-A7E6-BA432C85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4D04B5-C55D-4445-ADB0-EE94BD7C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29.05.2021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A8F3BE-6253-4789-ACD4-74D54DDA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D55794-27B0-45E3-8CED-C231DD85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0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0A44E-222F-4CD8-968A-9B9A8237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085646-1D27-4014-86EA-A6488D453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15D722-991B-46A6-9E57-8398F87A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45AC8D-12FB-46CB-A4A5-3F248747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29.05.2021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288DF6-3506-4096-B65C-551E090D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D4FEEB-A3A7-47D1-894D-7C9A2466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8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761E8-DBB4-4067-A064-B9849118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7C9F05-B935-409A-AF70-CC63213E8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7231EB-A09D-4F0D-B084-A4FF5691E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29.05.2021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891726-6822-4763-9199-A496191A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C043A3-8D1A-4DD1-83F2-25AEBD05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6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B8B8D1-6DB4-46F4-BA7A-28F2F03EE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7DD97F-34C1-48CB-95EE-5E5EF1C59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96001E-3E8F-42F0-92FA-C0FC32D1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29.05.2021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D56BF3-15F6-40D4-A3B3-0A6C6B76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F35F84-A6B1-4AFD-9EA6-7C0BCC8A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84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AE934-63FD-4AD2-AA77-0141EA12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7AE77F-F8D8-4D86-9E3B-940DCBABA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82924D-6BFD-4A78-99BD-66448940A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35BF7-E6F2-43E3-83B0-7EA589B5F9DB}" type="datetimeFigureOut">
              <a:rPr lang="ru-RU" smtClean="0"/>
              <a:t>29.05.2021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7AD77-F473-4BDF-A3F4-78FED4F79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E6BBAD-4DAD-487E-B903-1E28293CC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57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52697F-EE34-456F-834B-103082437C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b="1" noProof="1"/>
              <a:t>7-dars</a:t>
            </a:r>
          </a:p>
          <a:p>
            <a:r>
              <a:rPr lang="en-US" sz="4400" b="1" noProof="1"/>
              <a:t> Set va dictonary</a:t>
            </a:r>
          </a:p>
        </p:txBody>
      </p:sp>
      <p:pic>
        <p:nvPicPr>
          <p:cNvPr id="4" name="logoPNG.png" descr="logoPNG.png">
            <a:extLst>
              <a:ext uri="{FF2B5EF4-FFF2-40B4-BE49-F238E27FC236}">
                <a16:creationId xmlns:a16="http://schemas.microsoft.com/office/drawing/2014/main" id="{61D711D9-D19C-4C63-BEC3-1E84357B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73" y="633803"/>
            <a:ext cx="7928256" cy="29757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">
            <a:extLst>
              <a:ext uri="{FF2B5EF4-FFF2-40B4-BE49-F238E27FC236}">
                <a16:creationId xmlns:a16="http://schemas.microsoft.com/office/drawing/2014/main" id="{A76A65E3-1B5E-4480-BD49-964168D24BD1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336C90A-BDF3-47C5-AA99-358CBDAC3790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19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83BB6-D9E8-4E8D-B2FC-90E97DCC9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956"/>
            <a:ext cx="10515600" cy="1325563"/>
          </a:xfrm>
        </p:spPr>
        <p:txBody>
          <a:bodyPr/>
          <a:lstStyle/>
          <a:p>
            <a:r>
              <a:rPr lang="en-US" b="1" noProof="1">
                <a:solidFill>
                  <a:srgbClr val="0070C0"/>
                </a:solidFill>
              </a:rPr>
              <a:t>Dars rejasi: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6616841-1966-4591-BC84-63C8BDD64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525" y="1590500"/>
            <a:ext cx="10515600" cy="5017784"/>
          </a:xfrm>
          <a:prstGeom prst="rect">
            <a:avLst/>
          </a:prstGeom>
          <a:solidFill>
            <a:srgbClr val="FFF7EB"/>
          </a:solidFill>
          <a:ln w="12700">
            <a:solidFill>
              <a:srgbClr val="F9A75E"/>
            </a:solidFill>
            <a:miter lim="800000"/>
            <a:headEnd/>
            <a:tailEnd/>
          </a:ln>
        </p:spPr>
        <p:txBody>
          <a:bodyPr vert="horz" wrap="square" lIns="182880" tIns="91440" rIns="182880" bIns="91440" numCol="1" rtlCol="0" anchor="t" anchorCtr="0" compatLnSpc="1">
            <a:prstTxWarp prst="textNoShape">
              <a:avLst/>
            </a:prstTxWarp>
            <a:spAutoFit/>
          </a:bodyPr>
          <a:lstStyle>
            <a:lvl1pPr marL="798513" indent="-798513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35000"/>
              </a:spcAft>
              <a:buClr>
                <a:srgbClr val="4E87C6"/>
              </a:buClr>
              <a:buFont typeface="Wingdings" panose="05000000000000000000" pitchFamily="2" charset="2"/>
              <a:buChar char="•"/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1712913" indent="-798513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3711575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54475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97375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545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117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689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261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ko-KR" sz="3200" dirty="0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7.1</a:t>
            </a:r>
            <a:r>
              <a:rPr lang="en-US" altLang="ko-KR" sz="2800" dirty="0">
                <a:ea typeface="Times New Roman" panose="02020603050405020304" pitchFamily="18" charset="0"/>
                <a:cs typeface="Arial" panose="020B0604020202020204" pitchFamily="34" charset="0"/>
              </a:rPr>
              <a:t> 	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Set 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7.2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	Set metodlari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dirty="0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7.3</a:t>
            </a:r>
            <a:r>
              <a:rPr lang="en-US" altLang="ko-KR" sz="3200" dirty="0">
                <a:ea typeface="Times New Roman" panose="02020603050405020304" pitchFamily="18" charset="0"/>
                <a:cs typeface="Arial" panose="020B0604020202020204" pitchFamily="34" charset="0"/>
              </a:rPr>
              <a:t> 	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Dictionary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7.4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   Dictionary metodlari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7.5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	Mashqlar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7.6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	Vazifa</a:t>
            </a:r>
          </a:p>
          <a:p>
            <a:pPr marL="0" indent="0" eaLnBrk="1" hangingPunct="1">
              <a:lnSpc>
                <a:spcPct val="85000"/>
              </a:lnSpc>
              <a:buNone/>
            </a:pPr>
            <a:endParaRPr lang="en-US" altLang="ko-KR" sz="3200" noProof="1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85000"/>
              </a:lnSpc>
              <a:buNone/>
            </a:pPr>
            <a:endParaRPr lang="en-US" altLang="ko-KR" sz="22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ko-KR" sz="2200" dirty="0">
                <a:solidFill>
                  <a:srgbClr val="504A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046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97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7.1 </a:t>
            </a:r>
            <a:r>
              <a:rPr lang="en-US" b="1" noProof="1">
                <a:solidFill>
                  <a:srgbClr val="0070C0"/>
                </a:solidFill>
              </a:rPr>
              <a:t>Set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E9B2BF-9B77-46FE-AAF1-7DF8B8E73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2011"/>
            <a:ext cx="10404628" cy="4372761"/>
          </a:xfrm>
        </p:spPr>
        <p:txBody>
          <a:bodyPr/>
          <a:lstStyle/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C2D39F-1249-43B8-8E63-4AA4106E9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46" y="930413"/>
            <a:ext cx="11290641" cy="5927587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DF3B4FB-4220-4C60-ADBB-7EA665D53D4F}"/>
              </a:ext>
            </a:extLst>
          </p:cNvPr>
          <p:cNvSpPr/>
          <p:nvPr/>
        </p:nvSpPr>
        <p:spPr>
          <a:xfrm>
            <a:off x="11177113" y="1870097"/>
            <a:ext cx="155948" cy="4048217"/>
          </a:xfrm>
          <a:prstGeom prst="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CC4FA29-C91E-4DD8-84B6-EEAE1EBEB207}"/>
              </a:ext>
            </a:extLst>
          </p:cNvPr>
          <p:cNvSpPr/>
          <p:nvPr/>
        </p:nvSpPr>
        <p:spPr>
          <a:xfrm>
            <a:off x="1162975" y="5672831"/>
            <a:ext cx="10079852" cy="133165"/>
          </a:xfrm>
          <a:prstGeom prst="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615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97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7.2 </a:t>
            </a:r>
            <a:r>
              <a:rPr lang="en-US" b="1" noProof="1">
                <a:solidFill>
                  <a:srgbClr val="0070C0"/>
                </a:solidFill>
              </a:rPr>
              <a:t>Set metodlari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E9B2BF-9B77-46FE-AAF1-7DF8B8E73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2011"/>
            <a:ext cx="10404628" cy="4372761"/>
          </a:xfrm>
        </p:spPr>
        <p:txBody>
          <a:bodyPr/>
          <a:lstStyle/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graphicFrame>
        <p:nvGraphicFramePr>
          <p:cNvPr id="6" name="Таблица 7">
            <a:extLst>
              <a:ext uri="{FF2B5EF4-FFF2-40B4-BE49-F238E27FC236}">
                <a16:creationId xmlns:a16="http://schemas.microsoft.com/office/drawing/2014/main" id="{9048276F-3D6D-410F-AC56-C18FFFF1D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493319"/>
              </p:ext>
            </p:extLst>
          </p:nvPr>
        </p:nvGraphicFramePr>
        <p:xfrm>
          <a:off x="1638915" y="1491448"/>
          <a:ext cx="8943268" cy="452760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93035">
                  <a:extLst>
                    <a:ext uri="{9D8B030D-6E8A-4147-A177-3AD203B41FA5}">
                      <a16:colId xmlns:a16="http://schemas.microsoft.com/office/drawing/2014/main" val="959464701"/>
                    </a:ext>
                  </a:extLst>
                </a:gridCol>
                <a:gridCol w="7250233">
                  <a:extLst>
                    <a:ext uri="{9D8B030D-6E8A-4147-A177-3AD203B41FA5}">
                      <a16:colId xmlns:a16="http://schemas.microsoft.com/office/drawing/2014/main" val="2474671880"/>
                    </a:ext>
                  </a:extLst>
                </a:gridCol>
              </a:tblGrid>
              <a:tr h="464253">
                <a:tc>
                  <a:txBody>
                    <a:bodyPr/>
                    <a:lstStyle/>
                    <a:p>
                      <a:r>
                        <a:rPr lang="en-US" sz="20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Metod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   Vazifasi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2572747"/>
                  </a:ext>
                </a:extLst>
              </a:tr>
              <a:tr h="67722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add()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Yangi element qo’shadi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80103376"/>
                  </a:ext>
                </a:extLst>
              </a:tr>
              <a:tr h="67722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pop()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Tasodifiy elementni o’chirib tashlaydi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507016"/>
                  </a:ext>
                </a:extLst>
              </a:tr>
              <a:tr h="67722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clear()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Hamma elementni o’chirib tashlaydi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844950"/>
                  </a:ext>
                </a:extLst>
              </a:tr>
              <a:tr h="67722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remove()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sz="20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Aytilgan elementni o’chiradi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00191"/>
                  </a:ext>
                </a:extLst>
              </a:tr>
              <a:tr h="67722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discard()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sz="20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Aytilgan elementni o’chiradi 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6725552"/>
                  </a:ext>
                </a:extLst>
              </a:tr>
              <a:tr h="67722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copy()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Setning kopiyasini qaytaradi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5073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98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68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7.2 </a:t>
            </a:r>
            <a:r>
              <a:rPr lang="en-US" b="1" noProof="1">
                <a:solidFill>
                  <a:srgbClr val="0070C0"/>
                </a:solidFill>
              </a:rPr>
              <a:t>Set metodlari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E9B2BF-9B77-46FE-AAF1-7DF8B8E73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2011"/>
            <a:ext cx="10404628" cy="4372761"/>
          </a:xfrm>
        </p:spPr>
        <p:txBody>
          <a:bodyPr/>
          <a:lstStyle/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9A793F-635B-408F-A98F-FFD06C3A8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03" y="878888"/>
            <a:ext cx="11388783" cy="5979111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0E7BC6F-01A7-4C11-AF12-FE5F482A96B1}"/>
              </a:ext>
            </a:extLst>
          </p:cNvPr>
          <p:cNvSpPr/>
          <p:nvPr/>
        </p:nvSpPr>
        <p:spPr>
          <a:xfrm>
            <a:off x="1065320" y="5672831"/>
            <a:ext cx="10288480" cy="142043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D0C3C01-8F90-4CFA-A3F6-ECFA18D632A0}"/>
              </a:ext>
            </a:extLst>
          </p:cNvPr>
          <p:cNvSpPr/>
          <p:nvPr/>
        </p:nvSpPr>
        <p:spPr>
          <a:xfrm>
            <a:off x="11242827" y="1748901"/>
            <a:ext cx="45719" cy="3986074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46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">
            <a:extLst>
              <a:ext uri="{FF2B5EF4-FFF2-40B4-BE49-F238E27FC236}">
                <a16:creationId xmlns:a16="http://schemas.microsoft.com/office/drawing/2014/main" id="{89BE43B3-A607-4E8D-8580-481575D39B26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9FA76FF3-8C0F-4C7C-AD3F-C503D9D9EC13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39" name="Заголовок 1">
            <a:extLst>
              <a:ext uri="{FF2B5EF4-FFF2-40B4-BE49-F238E27FC236}">
                <a16:creationId xmlns:a16="http://schemas.microsoft.com/office/drawing/2014/main" id="{558B5D14-9C6B-4F55-9A26-859ACADC25BC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7.2 </a:t>
            </a:r>
            <a:r>
              <a:rPr lang="en-US" b="1" noProof="1">
                <a:solidFill>
                  <a:srgbClr val="0070C0"/>
                </a:solidFill>
              </a:rPr>
              <a:t>Set metodlari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1E0F68-3D4D-40F0-8263-713797251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399" y="701336"/>
            <a:ext cx="4691608" cy="581172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D3C74DA-38ED-4241-8B2F-098E972DEEF5}"/>
              </a:ext>
            </a:extLst>
          </p:cNvPr>
          <p:cNvSpPr/>
          <p:nvPr/>
        </p:nvSpPr>
        <p:spPr>
          <a:xfrm>
            <a:off x="5862599" y="671659"/>
            <a:ext cx="4847208" cy="7723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FDF0D81-5C54-41B6-A539-564A53471A71}"/>
              </a:ext>
            </a:extLst>
          </p:cNvPr>
          <p:cNvCxnSpPr/>
          <p:nvPr/>
        </p:nvCxnSpPr>
        <p:spPr>
          <a:xfrm>
            <a:off x="5940399" y="1444016"/>
            <a:ext cx="4691608" cy="0"/>
          </a:xfrm>
          <a:prstGeom prst="line">
            <a:avLst/>
          </a:prstGeom>
          <a:ln>
            <a:solidFill>
              <a:srgbClr val="8E8E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2534E10-5AF9-4226-B1C9-81945518F2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85" y="1923393"/>
            <a:ext cx="4490151" cy="3367613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C99F5FA-9E5D-4344-BB7D-786ACB92DEA4}"/>
              </a:ext>
            </a:extLst>
          </p:cNvPr>
          <p:cNvSpPr/>
          <p:nvPr/>
        </p:nvSpPr>
        <p:spPr>
          <a:xfrm>
            <a:off x="4172505" y="5086906"/>
            <a:ext cx="939631" cy="204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15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">
            <a:extLst>
              <a:ext uri="{FF2B5EF4-FFF2-40B4-BE49-F238E27FC236}">
                <a16:creationId xmlns:a16="http://schemas.microsoft.com/office/drawing/2014/main" id="{89BE43B3-A607-4E8D-8580-481575D39B26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9FA76FF3-8C0F-4C7C-AD3F-C503D9D9EC13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39" name="Заголовок 1">
            <a:extLst>
              <a:ext uri="{FF2B5EF4-FFF2-40B4-BE49-F238E27FC236}">
                <a16:creationId xmlns:a16="http://schemas.microsoft.com/office/drawing/2014/main" id="{558B5D14-9C6B-4F55-9A26-859ACADC25BC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7.2 </a:t>
            </a:r>
            <a:r>
              <a:rPr lang="en-US" b="1" noProof="1">
                <a:solidFill>
                  <a:srgbClr val="0070C0"/>
                </a:solidFill>
              </a:rPr>
              <a:t>Set metodlari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6F8794-6695-4A39-A50A-A14CB3A272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692" y="777535"/>
            <a:ext cx="4749230" cy="5859291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0A22821-CF66-4F6B-B57E-188F26A4275F}"/>
              </a:ext>
            </a:extLst>
          </p:cNvPr>
          <p:cNvSpPr/>
          <p:nvPr/>
        </p:nvSpPr>
        <p:spPr>
          <a:xfrm>
            <a:off x="719091" y="1607522"/>
            <a:ext cx="4110361" cy="112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Yengil takrorlash vaqti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495A6F2-CDD4-48B6-A7DD-61B0405AEC64}"/>
              </a:ext>
            </a:extLst>
          </p:cNvPr>
          <p:cNvSpPr/>
          <p:nvPr/>
        </p:nvSpPr>
        <p:spPr>
          <a:xfrm>
            <a:off x="8868792" y="1038687"/>
            <a:ext cx="1988598" cy="96766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Xo’o’p, list, tuple va setlarning nima farqlari bor ekan?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0E54323-3DAE-462A-8308-B8C133D18488}"/>
              </a:ext>
            </a:extLst>
          </p:cNvPr>
          <p:cNvSpPr/>
          <p:nvPr/>
        </p:nvSpPr>
        <p:spPr>
          <a:xfrm>
            <a:off x="8984202" y="2982897"/>
            <a:ext cx="1873188" cy="88776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Haliyam uncha yaxshi tushunmadim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121A1F6-511F-4448-8A3D-97DE66D5A9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82" y="2982897"/>
            <a:ext cx="5620027" cy="3161265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91F90F1-B033-4381-ACB5-2EE243521E22}"/>
              </a:ext>
            </a:extLst>
          </p:cNvPr>
          <p:cNvSpPr/>
          <p:nvPr/>
        </p:nvSpPr>
        <p:spPr>
          <a:xfrm>
            <a:off x="497150" y="3870664"/>
            <a:ext cx="2379215" cy="7457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18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4548CA7-F646-4CD3-92F0-0E71C7EEF7B4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7.3 Dictionary</a:t>
            </a:r>
            <a:endParaRPr lang="en-US" b="1" noProof="1">
              <a:solidFill>
                <a:srgbClr val="0070C0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630DDA-3C13-4180-B5DC-96308284CF20}"/>
              </a:ext>
            </a:extLst>
          </p:cNvPr>
          <p:cNvSpPr/>
          <p:nvPr/>
        </p:nvSpPr>
        <p:spPr>
          <a:xfrm>
            <a:off x="937926" y="1400194"/>
            <a:ext cx="2378666" cy="10520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Dictionary</a:t>
            </a:r>
          </a:p>
        </p:txBody>
      </p:sp>
      <p:sp>
        <p:nvSpPr>
          <p:cNvPr id="11" name="Левая фигурная скобка 10">
            <a:extLst>
              <a:ext uri="{FF2B5EF4-FFF2-40B4-BE49-F238E27FC236}">
                <a16:creationId xmlns:a16="http://schemas.microsoft.com/office/drawing/2014/main" id="{76348FE8-D9A5-43D7-8517-6D01DDCF07D4}"/>
              </a:ext>
            </a:extLst>
          </p:cNvPr>
          <p:cNvSpPr/>
          <p:nvPr/>
        </p:nvSpPr>
        <p:spPr>
          <a:xfrm>
            <a:off x="4565549" y="1208691"/>
            <a:ext cx="994300" cy="4416128"/>
          </a:xfrm>
          <a:prstGeom prst="leftBrace">
            <a:avLst/>
          </a:pr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Правая фигурная скобка 12">
            <a:extLst>
              <a:ext uri="{FF2B5EF4-FFF2-40B4-BE49-F238E27FC236}">
                <a16:creationId xmlns:a16="http://schemas.microsoft.com/office/drawing/2014/main" id="{15566F82-B6EF-4301-83D8-DD50E4CBC8ED}"/>
              </a:ext>
            </a:extLst>
          </p:cNvPr>
          <p:cNvSpPr/>
          <p:nvPr/>
        </p:nvSpPr>
        <p:spPr>
          <a:xfrm>
            <a:off x="9926005" y="1208691"/>
            <a:ext cx="1083076" cy="4416128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3A58DEAA-DD78-41A6-B3CB-7E9FF8349FAF}"/>
              </a:ext>
            </a:extLst>
          </p:cNvPr>
          <p:cNvSpPr/>
          <p:nvPr/>
        </p:nvSpPr>
        <p:spPr>
          <a:xfrm>
            <a:off x="5615314" y="1420409"/>
            <a:ext cx="1367161" cy="488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key1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AC36004-84D6-4EFF-9E98-213734736E9C}"/>
              </a:ext>
            </a:extLst>
          </p:cNvPr>
          <p:cNvSpPr/>
          <p:nvPr/>
        </p:nvSpPr>
        <p:spPr>
          <a:xfrm>
            <a:off x="8353018" y="1400194"/>
            <a:ext cx="1367161" cy="488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value1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55A30AF-237D-4B7E-AF04-8CE2839B737B}"/>
              </a:ext>
            </a:extLst>
          </p:cNvPr>
          <p:cNvSpPr/>
          <p:nvPr/>
        </p:nvSpPr>
        <p:spPr>
          <a:xfrm>
            <a:off x="5615315" y="2550432"/>
            <a:ext cx="1367161" cy="488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key2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A2D620B6-36A1-4A39-A06B-147A1AE6EECD}"/>
              </a:ext>
            </a:extLst>
          </p:cNvPr>
          <p:cNvSpPr/>
          <p:nvPr/>
        </p:nvSpPr>
        <p:spPr>
          <a:xfrm>
            <a:off x="8353018" y="2550432"/>
            <a:ext cx="1367161" cy="488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value2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BF61EC9F-B5FD-47AF-A931-5DC58C2305D4}"/>
              </a:ext>
            </a:extLst>
          </p:cNvPr>
          <p:cNvSpPr/>
          <p:nvPr/>
        </p:nvSpPr>
        <p:spPr>
          <a:xfrm>
            <a:off x="5615316" y="3680455"/>
            <a:ext cx="1367161" cy="488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key3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A1585CA0-9E14-4235-83E6-2445A8824719}"/>
              </a:ext>
            </a:extLst>
          </p:cNvPr>
          <p:cNvSpPr/>
          <p:nvPr/>
        </p:nvSpPr>
        <p:spPr>
          <a:xfrm>
            <a:off x="8353018" y="3680455"/>
            <a:ext cx="1367161" cy="488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value3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52F3B2B6-FC7C-470B-99DC-0B37E44915F0}"/>
              </a:ext>
            </a:extLst>
          </p:cNvPr>
          <p:cNvSpPr/>
          <p:nvPr/>
        </p:nvSpPr>
        <p:spPr>
          <a:xfrm>
            <a:off x="5615317" y="4810466"/>
            <a:ext cx="1367161" cy="488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solidFill>
                  <a:schemeClr val="tx1"/>
                </a:solidFill>
              </a:rPr>
              <a:t>keyn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E397F8F-8557-40DA-86AA-E3E4FAE73433}"/>
              </a:ext>
            </a:extLst>
          </p:cNvPr>
          <p:cNvSpPr/>
          <p:nvPr/>
        </p:nvSpPr>
        <p:spPr>
          <a:xfrm>
            <a:off x="8353018" y="4810466"/>
            <a:ext cx="1367161" cy="488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solidFill>
                  <a:schemeClr val="tx1"/>
                </a:solidFill>
              </a:rPr>
              <a:t>valuen</a:t>
            </a: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DC3C82B8-1A07-4A30-8554-8CFD1685B8E3}"/>
              </a:ext>
            </a:extLst>
          </p:cNvPr>
          <p:cNvSpPr/>
          <p:nvPr/>
        </p:nvSpPr>
        <p:spPr>
          <a:xfrm>
            <a:off x="7357860" y="1420421"/>
            <a:ext cx="722050" cy="48827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E860B5CD-9D3E-4F6F-916C-A9B150CB314E}"/>
              </a:ext>
            </a:extLst>
          </p:cNvPr>
          <p:cNvSpPr/>
          <p:nvPr/>
        </p:nvSpPr>
        <p:spPr>
          <a:xfrm>
            <a:off x="7355913" y="2550432"/>
            <a:ext cx="722050" cy="48827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A022960B-768E-4B67-9BEE-D5F9500E3C49}"/>
              </a:ext>
            </a:extLst>
          </p:cNvPr>
          <p:cNvSpPr/>
          <p:nvPr/>
        </p:nvSpPr>
        <p:spPr>
          <a:xfrm>
            <a:off x="7358624" y="3680455"/>
            <a:ext cx="722050" cy="48827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4D2976FC-F41E-4989-8FAF-ECF156F8CB4E}"/>
              </a:ext>
            </a:extLst>
          </p:cNvPr>
          <p:cNvSpPr/>
          <p:nvPr/>
        </p:nvSpPr>
        <p:spPr>
          <a:xfrm>
            <a:off x="7358624" y="4810466"/>
            <a:ext cx="722050" cy="48827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56477881-03E6-4567-A7C8-89D05DDE0081}"/>
              </a:ext>
            </a:extLst>
          </p:cNvPr>
          <p:cNvSpPr/>
          <p:nvPr/>
        </p:nvSpPr>
        <p:spPr>
          <a:xfrm>
            <a:off x="9806756" y="1728650"/>
            <a:ext cx="192339" cy="18003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E1851D39-89F5-4835-965E-1FA699DD00B8}"/>
              </a:ext>
            </a:extLst>
          </p:cNvPr>
          <p:cNvSpPr/>
          <p:nvPr/>
        </p:nvSpPr>
        <p:spPr>
          <a:xfrm>
            <a:off x="9807395" y="2919563"/>
            <a:ext cx="192339" cy="18003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84FC63B6-60C0-4822-BEBB-8D34238C3B7D}"/>
              </a:ext>
            </a:extLst>
          </p:cNvPr>
          <p:cNvSpPr/>
          <p:nvPr/>
        </p:nvSpPr>
        <p:spPr>
          <a:xfrm>
            <a:off x="9806756" y="4020460"/>
            <a:ext cx="192339" cy="18003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94513199-E20D-4B08-907F-291BC0BA8E7B}"/>
              </a:ext>
            </a:extLst>
          </p:cNvPr>
          <p:cNvSpPr/>
          <p:nvPr/>
        </p:nvSpPr>
        <p:spPr>
          <a:xfrm>
            <a:off x="844888" y="2782067"/>
            <a:ext cx="3175973" cy="31889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Tartiblangan. O’zgartirsa bo’ladi.</a:t>
            </a:r>
          </a:p>
          <a:p>
            <a:pPr algn="ctr"/>
            <a:r>
              <a:rPr lang="en-US" sz="2800" noProof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 qabul qilmaydi.</a:t>
            </a:r>
          </a:p>
        </p:txBody>
      </p:sp>
    </p:spTree>
    <p:extLst>
      <p:ext uri="{BB962C8B-B14F-4D97-AF65-F5344CB8AC3E}">
        <p14:creationId xmlns:p14="http://schemas.microsoft.com/office/powerpoint/2010/main" val="3547878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87BF2-1293-45D7-BC82-AF9DF0B1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68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7.4 </a:t>
            </a:r>
            <a:r>
              <a:rPr lang="en-US" b="1" noProof="1">
                <a:solidFill>
                  <a:srgbClr val="0070C0"/>
                </a:solidFill>
              </a:rPr>
              <a:t>Dictionary metodlari: values, keys, items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D0835FA-2774-4F9F-B9D6-8C189EF3C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71" y="909584"/>
            <a:ext cx="11330316" cy="5948416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65D6A48-CA03-476A-B03E-EAA6ABEE4562}"/>
              </a:ext>
            </a:extLst>
          </p:cNvPr>
          <p:cNvSpPr/>
          <p:nvPr/>
        </p:nvSpPr>
        <p:spPr>
          <a:xfrm>
            <a:off x="1136342" y="6098959"/>
            <a:ext cx="10217458" cy="133165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44C0DFD-7B17-4EDC-B47E-A9795BBFAC96}"/>
              </a:ext>
            </a:extLst>
          </p:cNvPr>
          <p:cNvSpPr/>
          <p:nvPr/>
        </p:nvSpPr>
        <p:spPr>
          <a:xfrm>
            <a:off x="11194742" y="1793289"/>
            <a:ext cx="159058" cy="430567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6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">
            <a:extLst>
              <a:ext uri="{FF2B5EF4-FFF2-40B4-BE49-F238E27FC236}">
                <a16:creationId xmlns:a16="http://schemas.microsoft.com/office/drawing/2014/main" id="{89BE43B3-A607-4E8D-8580-481575D39B26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9FA76FF3-8C0F-4C7C-AD3F-C503D9D9EC13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4945E78-8741-4FD5-B58D-B02557179BD6}"/>
              </a:ext>
            </a:extLst>
          </p:cNvPr>
          <p:cNvSpPr txBox="1">
            <a:spLocks/>
          </p:cNvSpPr>
          <p:nvPr/>
        </p:nvSpPr>
        <p:spPr>
          <a:xfrm>
            <a:off x="838200" y="-1168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7.4 Dictionary </a:t>
            </a:r>
            <a:r>
              <a:rPr lang="en-US" b="1" noProof="1">
                <a:solidFill>
                  <a:srgbClr val="0070C0"/>
                </a:solidFill>
              </a:rPr>
              <a:t>metodlari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41A353-6497-4C52-BE94-16C60D748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86" y="936259"/>
            <a:ext cx="10637858" cy="592174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B7A2EDA-EAE7-4FD9-AAA3-8A48791F4A81}"/>
              </a:ext>
            </a:extLst>
          </p:cNvPr>
          <p:cNvSpPr/>
          <p:nvPr/>
        </p:nvSpPr>
        <p:spPr>
          <a:xfrm>
            <a:off x="1509204" y="6187736"/>
            <a:ext cx="9579006" cy="15979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AAA258C-C368-4592-917D-4B59929E7AC4}"/>
              </a:ext>
            </a:extLst>
          </p:cNvPr>
          <p:cNvSpPr/>
          <p:nvPr/>
        </p:nvSpPr>
        <p:spPr>
          <a:xfrm>
            <a:off x="10990555" y="1757779"/>
            <a:ext cx="97655" cy="4429957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63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">
            <a:extLst>
              <a:ext uri="{FF2B5EF4-FFF2-40B4-BE49-F238E27FC236}">
                <a16:creationId xmlns:a16="http://schemas.microsoft.com/office/drawing/2014/main" id="{89BE43B3-A607-4E8D-8580-481575D39B26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9FA76FF3-8C0F-4C7C-AD3F-C503D9D9EC13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4945E78-8741-4FD5-B58D-B02557179BD6}"/>
              </a:ext>
            </a:extLst>
          </p:cNvPr>
          <p:cNvSpPr txBox="1">
            <a:spLocks/>
          </p:cNvSpPr>
          <p:nvPr/>
        </p:nvSpPr>
        <p:spPr>
          <a:xfrm>
            <a:off x="838200" y="-1168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7.4 Dictionary </a:t>
            </a:r>
            <a:r>
              <a:rPr lang="en-US" b="1" noProof="1">
                <a:solidFill>
                  <a:srgbClr val="0070C0"/>
                </a:solidFill>
              </a:rPr>
              <a:t>metodlari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5ACA20F-98DE-442B-814C-BDB975329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08" y="965513"/>
            <a:ext cx="11223784" cy="5892487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CD4B519-AB2C-4EFA-B04A-C5FE670C4C28}"/>
              </a:ext>
            </a:extLst>
          </p:cNvPr>
          <p:cNvSpPr/>
          <p:nvPr/>
        </p:nvSpPr>
        <p:spPr>
          <a:xfrm>
            <a:off x="1012054" y="5264458"/>
            <a:ext cx="10129422" cy="133165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FE1DDA9-CB51-41E2-BD9C-604AE43F70FC}"/>
              </a:ext>
            </a:extLst>
          </p:cNvPr>
          <p:cNvSpPr/>
          <p:nvPr/>
        </p:nvSpPr>
        <p:spPr>
          <a:xfrm>
            <a:off x="11043821" y="1873188"/>
            <a:ext cx="97655" cy="3630967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83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87BF2-1293-45D7-BC82-AF9DF0B1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966"/>
            <a:ext cx="10515600" cy="1325563"/>
          </a:xfrm>
        </p:spPr>
        <p:txBody>
          <a:bodyPr/>
          <a:lstStyle/>
          <a:p>
            <a:r>
              <a:rPr lang="en-US" b="1" noProof="1">
                <a:solidFill>
                  <a:schemeClr val="accent1"/>
                </a:solidFill>
              </a:rPr>
              <a:t>7.5 Mashqlar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05B9EC1-EF21-4D00-9E5D-2E4971433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292" y="1232331"/>
            <a:ext cx="9448800" cy="531495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7CA9357-A5D5-47BD-A5EE-0367D48F027C}"/>
              </a:ext>
            </a:extLst>
          </p:cNvPr>
          <p:cNvSpPr/>
          <p:nvPr/>
        </p:nvSpPr>
        <p:spPr>
          <a:xfrm>
            <a:off x="8433786" y="1615736"/>
            <a:ext cx="2441360" cy="1127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Mashq qilamizmi(</a:t>
            </a:r>
          </a:p>
        </p:txBody>
      </p:sp>
    </p:spTree>
    <p:extLst>
      <p:ext uri="{BB962C8B-B14F-4D97-AF65-F5344CB8AC3E}">
        <p14:creationId xmlns:p14="http://schemas.microsoft.com/office/powerpoint/2010/main" val="4041951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B45B2DFE-97E0-4E54-B7E6-318C0CE860A4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3C1C198B-9B8D-4D39-ABF5-AA364449A575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CB881E-8A65-42C1-92B7-E93D18B01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657" y="682368"/>
            <a:ext cx="7046686" cy="549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1108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2493</TotalTime>
  <Words>162</Words>
  <Application>Microsoft Office PowerPoint</Application>
  <PresentationFormat>Широкоэкранный</PresentationFormat>
  <Paragraphs>67</Paragraphs>
  <Slides>13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Тема Office</vt:lpstr>
      <vt:lpstr>Презентация PowerPoint</vt:lpstr>
      <vt:lpstr>Dars rejasi:</vt:lpstr>
      <vt:lpstr>7.1 Set</vt:lpstr>
      <vt:lpstr>7.2 Set metodlari</vt:lpstr>
      <vt:lpstr>7.2 Set metodlari</vt:lpstr>
      <vt:lpstr>Презентация PowerPoint</vt:lpstr>
      <vt:lpstr>Презентация PowerPoint</vt:lpstr>
      <vt:lpstr>Презентация PowerPoint</vt:lpstr>
      <vt:lpstr>7.4 Dictionary metodlari: values, keys, items</vt:lpstr>
      <vt:lpstr>Презентация PowerPoint</vt:lpstr>
      <vt:lpstr>Презентация PowerPoint</vt:lpstr>
      <vt:lpstr>7.5 Mashqlar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User</cp:lastModifiedBy>
  <cp:revision>138</cp:revision>
  <dcterms:created xsi:type="dcterms:W3CDTF">2021-01-26T11:27:43Z</dcterms:created>
  <dcterms:modified xsi:type="dcterms:W3CDTF">2021-05-29T09:03:47Z</dcterms:modified>
</cp:coreProperties>
</file>